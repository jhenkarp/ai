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42A3F"/>
          </a:solidFill>
          <a:ln w="12700">
            <a:solidFill>
              <a:srgbClr val="142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274320" cy="6583680"/>
          </a:xfrm>
          <a:prstGeom prst="rect">
            <a:avLst/>
          </a:prstGeom>
          <a:solidFill>
            <a:srgbClr val="259791"/>
          </a:solidFill>
          <a:ln w="12700">
            <a:solidFill>
              <a:srgbClr val="25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8360" y="685800"/>
            <a:ext cx="1325880" cy="1325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685800"/>
            <a:ext cx="7772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42A3F"/>
                </a:solidFill>
                <a:latin typeface="Aptos"/>
              </a:rPr>
              <a:t>THE NATIONAL INSTITUTE OF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24128"/>
            <a:ext cx="77724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B6C77"/>
                </a:solidFill>
                <a:latin typeface="Aptos"/>
              </a:rPr>
              <a:t>DEPARTMENT OF COMPUTER SCIENCE &amp;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292608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59791"/>
                </a:solidFill>
                <a:latin typeface="Aptos Mono"/>
              </a:rPr>
              <a:t>PROJECT SYNOPSIS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70408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000" b="1">
                <a:solidFill>
                  <a:srgbClr val="142A3F"/>
                </a:solidFill>
                <a:latin typeface="Aptos"/>
              </a:rPr>
              <a:t>SafeStride Assist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880360"/>
            <a:ext cx="694944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27699A"/>
                </a:solidFill>
                <a:latin typeface="Aptos"/>
              </a:rPr>
              <a:t>An AI-Based Safe Walking Assistant Using Monocular Depth Estimation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767328"/>
            <a:ext cx="6583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B6C77"/>
                </a:solidFill>
                <a:latin typeface="Aptos"/>
              </a:rPr>
              <a:t>Real-time perception  |  spatial reasoning  |  voice feedback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2011680"/>
            <a:ext cx="283464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423160"/>
            <a:ext cx="21031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27699A"/>
                </a:solidFill>
                <a:latin typeface="Aptos"/>
              </a:rPr>
              <a:t>CAMERA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281160" y="2743200"/>
            <a:ext cx="0" cy="347472"/>
          </a:xfrm>
          <a:prstGeom prst="line">
            <a:avLst/>
          </a:prstGeom>
          <a:ln w="25400">
            <a:solidFill>
              <a:srgbClr val="259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0" y="3154680"/>
            <a:ext cx="21031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259791"/>
                </a:solidFill>
                <a:latin typeface="Aptos"/>
              </a:rPr>
              <a:t>DEPTH + PATH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281160" y="3474720"/>
            <a:ext cx="0" cy="347471"/>
          </a:xfrm>
          <a:prstGeom prst="line">
            <a:avLst/>
          </a:prstGeom>
          <a:ln w="25400">
            <a:solidFill>
              <a:srgbClr val="259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29600" y="3886200"/>
            <a:ext cx="21031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E08739"/>
                </a:solidFill>
                <a:latin typeface="Aptos"/>
              </a:rPr>
              <a:t>VOICE ALERT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6053328"/>
            <a:ext cx="4114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B6C77"/>
                </a:solidFill>
                <a:latin typeface="Aptos"/>
              </a:rPr>
              <a:t>Batch B15  |  Major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2A3F"/>
          </a:solidFill>
          <a:ln w="12700">
            <a:solidFill>
              <a:srgbClr val="142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29260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59791"/>
                </a:solidFill>
                <a:latin typeface="Aptos Mono"/>
              </a:rPr>
              <a:t>SAFESTRIDE ASSIST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47472"/>
            <a:ext cx="23317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>
                <a:solidFill>
                  <a:srgbClr val="5B6C77"/>
                </a:solidFill>
                <a:latin typeface="Aptos Mono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858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42A3F"/>
                </a:solidFill>
                <a:latin typeface="Aptos"/>
              </a:rPr>
              <a:t>Abstract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61872"/>
            <a:ext cx="10972800" cy="18288"/>
          </a:xfrm>
          <a:prstGeom prst="rect">
            <a:avLst/>
          </a:prstGeom>
          <a:solidFill>
            <a:srgbClr val="E2EAED"/>
          </a:solidFill>
          <a:ln w="12700">
            <a:solidFill>
              <a:srgbClr val="E2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61320" y="6473952"/>
            <a:ext cx="96012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B6C77"/>
                </a:solidFill>
                <a:latin typeface="Aptos Mono"/>
              </a:rPr>
              <a:t>B15  |  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00200"/>
            <a:ext cx="6446520" cy="4434840"/>
          </a:xfrm>
          <a:prstGeom prst="roundRect">
            <a:avLst>
              <a:gd name="adj" fmla="val 6000"/>
            </a:avLst>
          </a:prstGeom>
          <a:solidFill>
            <a:srgbClr val="EBF3FA"/>
          </a:solidFill>
          <a:ln w="12700">
            <a:solidFill>
              <a:srgbClr val="EB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58064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42A3F"/>
                </a:solidFill>
                <a:latin typeface="Aptos"/>
              </a:rPr>
              <a:t>SafeStride Assist is a research and teaching prototype for safer walking assistance.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34640"/>
            <a:ext cx="576072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>
                <a:solidFill>
                  <a:srgbClr val="1D2B36"/>
                </a:solidFill>
                <a:latin typeface="Aptos"/>
              </a:rPr>
              <a:t>It combines YOLO-based detection, ByteTrack tracking, Depth Anything V2, ground-plane calibration, and speech feedback. The central method evaluates a three-metre forward walking corridor instead of reporting every object in the camera view.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251960"/>
            <a:ext cx="576072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>
                <a:solidFill>
                  <a:srgbClr val="5B6C77"/>
                </a:solidFill>
                <a:latin typeface="Aptos"/>
              </a:rPr>
              <a:t>The output is a concise action such as: Stop. Path blocked, 2 meters. Keep left. Processing is local by default, and the system is explicitly an educational prototype rather than a certified mobility or emergency device.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691640"/>
            <a:ext cx="352044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76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59" y="1837944"/>
            <a:ext cx="1143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7699A"/>
                </a:solidFill>
                <a:latin typeface="Aptos"/>
              </a:rPr>
              <a:t>PERCEIVE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1837944"/>
            <a:ext cx="1828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42A3F"/>
                </a:solidFill>
                <a:latin typeface="Aptos"/>
              </a:rPr>
              <a:t>camera + models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26679" y="3017520"/>
            <a:ext cx="352044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5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9559" y="3163824"/>
            <a:ext cx="1143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59791"/>
                </a:solidFill>
                <a:latin typeface="Aptos"/>
              </a:rPr>
              <a:t>REASON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3163824"/>
            <a:ext cx="1828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42A3F"/>
                </a:solidFill>
                <a:latin typeface="Aptos"/>
              </a:rPr>
              <a:t>depth + corridor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4343400"/>
            <a:ext cx="352044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8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09559" y="4489704"/>
            <a:ext cx="1143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08739"/>
                </a:solidFill>
                <a:latin typeface="Aptos"/>
              </a:rPr>
              <a:t>GUIDE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4489704"/>
            <a:ext cx="1828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42A3F"/>
                </a:solidFill>
                <a:latin typeface="Aptos"/>
              </a:rPr>
              <a:t>voice + captions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2A3F"/>
          </a:solidFill>
          <a:ln w="12700">
            <a:solidFill>
              <a:srgbClr val="142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29260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59791"/>
                </a:solidFill>
                <a:latin typeface="Aptos Mono"/>
              </a:rPr>
              <a:t>SAFESTRIDE ASSIST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47472"/>
            <a:ext cx="23317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>
                <a:solidFill>
                  <a:srgbClr val="5B6C77"/>
                </a:solidFill>
                <a:latin typeface="Aptos Mono"/>
              </a:rPr>
              <a:t>PRESENTATION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858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42A3F"/>
                </a:solidFill>
                <a:latin typeface="Aptos"/>
              </a:rPr>
              <a:t>Index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61872"/>
            <a:ext cx="10972800" cy="18288"/>
          </a:xfrm>
          <a:prstGeom prst="rect">
            <a:avLst/>
          </a:prstGeom>
          <a:solidFill>
            <a:srgbClr val="E2EAED"/>
          </a:solidFill>
          <a:ln w="12700">
            <a:solidFill>
              <a:srgbClr val="E2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61320" y="6473952"/>
            <a:ext cx="96012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B6C77"/>
                </a:solidFill>
                <a:latin typeface="Aptos Mono"/>
              </a:rPr>
              <a:t>B15  |  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600200"/>
            <a:ext cx="502920" cy="347472"/>
          </a:xfrm>
          <a:prstGeom prst="roundRect">
            <a:avLst>
              <a:gd name="adj" fmla="val 6000"/>
            </a:avLst>
          </a:prstGeom>
          <a:solidFill>
            <a:srgbClr val="259791"/>
          </a:solidFill>
          <a:ln w="12700">
            <a:solidFill>
              <a:srgbClr val="25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64208"/>
            <a:ext cx="50292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 Mon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7" y="1618488"/>
            <a:ext cx="4297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>
                <a:solidFill>
                  <a:srgbClr val="142A3F"/>
                </a:solidFill>
                <a:latin typeface="Aptos"/>
              </a:rPr>
              <a:t>Introduction and motivation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64207" y="2075688"/>
            <a:ext cx="4343400" cy="18288"/>
          </a:xfrm>
          <a:prstGeom prst="rect">
            <a:avLst/>
          </a:prstGeom>
          <a:solidFill>
            <a:srgbClr val="E2EAED"/>
          </a:solidFill>
          <a:ln w="12700">
            <a:solidFill>
              <a:srgbClr val="E2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2395728"/>
            <a:ext cx="502920" cy="347472"/>
          </a:xfrm>
          <a:prstGeom prst="roundRect">
            <a:avLst>
              <a:gd name="adj" fmla="val 6000"/>
            </a:avLst>
          </a:prstGeom>
          <a:solidFill>
            <a:srgbClr val="259791"/>
          </a:solidFill>
          <a:ln w="12700">
            <a:solidFill>
              <a:srgbClr val="25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459736"/>
            <a:ext cx="50292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 Mon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4207" y="2414016"/>
            <a:ext cx="4297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>
                <a:solidFill>
                  <a:srgbClr val="142A3F"/>
                </a:solidFill>
                <a:latin typeface="Aptos"/>
              </a:rPr>
              <a:t>Problem statement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64207" y="2871216"/>
            <a:ext cx="4343400" cy="18288"/>
          </a:xfrm>
          <a:prstGeom prst="rect">
            <a:avLst/>
          </a:prstGeom>
          <a:solidFill>
            <a:srgbClr val="E2EAED"/>
          </a:solidFill>
          <a:ln w="12700">
            <a:solidFill>
              <a:srgbClr val="E2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" y="3191256"/>
            <a:ext cx="502920" cy="347472"/>
          </a:xfrm>
          <a:prstGeom prst="roundRect">
            <a:avLst>
              <a:gd name="adj" fmla="val 6000"/>
            </a:avLst>
          </a:prstGeom>
          <a:solidFill>
            <a:srgbClr val="259791"/>
          </a:solidFill>
          <a:ln w="12700">
            <a:solidFill>
              <a:srgbClr val="25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255264"/>
            <a:ext cx="50292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 Mono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64207" y="3209544"/>
            <a:ext cx="4297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>
                <a:solidFill>
                  <a:srgbClr val="142A3F"/>
                </a:solidFill>
                <a:latin typeface="Aptos"/>
              </a:rPr>
              <a:t>Literature review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64207" y="3666744"/>
            <a:ext cx="4343400" cy="18288"/>
          </a:xfrm>
          <a:prstGeom prst="rect">
            <a:avLst/>
          </a:prstGeom>
          <a:solidFill>
            <a:srgbClr val="E2EAED"/>
          </a:solidFill>
          <a:ln w="12700">
            <a:solidFill>
              <a:srgbClr val="E2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4400" y="3986783"/>
            <a:ext cx="502920" cy="347472"/>
          </a:xfrm>
          <a:prstGeom prst="roundRect">
            <a:avLst>
              <a:gd name="adj" fmla="val 6000"/>
            </a:avLst>
          </a:prstGeom>
          <a:solidFill>
            <a:srgbClr val="259791"/>
          </a:solidFill>
          <a:ln w="12700">
            <a:solidFill>
              <a:srgbClr val="25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050791"/>
            <a:ext cx="50292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 Mono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4207" y="4005071"/>
            <a:ext cx="4297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>
                <a:solidFill>
                  <a:srgbClr val="142A3F"/>
                </a:solidFill>
                <a:latin typeface="Aptos"/>
              </a:rPr>
              <a:t>System architecture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64207" y="4462271"/>
            <a:ext cx="4343400" cy="18288"/>
          </a:xfrm>
          <a:prstGeom prst="rect">
            <a:avLst/>
          </a:prstGeom>
          <a:solidFill>
            <a:srgbClr val="E2EAED"/>
          </a:solidFill>
          <a:ln w="12700">
            <a:solidFill>
              <a:srgbClr val="E2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4400" y="4782312"/>
            <a:ext cx="502920" cy="347472"/>
          </a:xfrm>
          <a:prstGeom prst="roundRect">
            <a:avLst>
              <a:gd name="adj" fmla="val 6000"/>
            </a:avLst>
          </a:prstGeom>
          <a:solidFill>
            <a:srgbClr val="259791"/>
          </a:solidFill>
          <a:ln w="12700">
            <a:solidFill>
              <a:srgbClr val="25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846320"/>
            <a:ext cx="50292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 Mono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64207" y="4800600"/>
            <a:ext cx="4297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>
                <a:solidFill>
                  <a:srgbClr val="142A3F"/>
                </a:solidFill>
                <a:latin typeface="Aptos"/>
              </a:rPr>
              <a:t>System design and data flow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64207" y="5257800"/>
            <a:ext cx="4343400" cy="18288"/>
          </a:xfrm>
          <a:prstGeom prst="rect">
            <a:avLst/>
          </a:prstGeom>
          <a:solidFill>
            <a:srgbClr val="E2EAED"/>
          </a:solidFill>
          <a:ln w="12700">
            <a:solidFill>
              <a:srgbClr val="E2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00800" y="1600200"/>
            <a:ext cx="502920" cy="347472"/>
          </a:xfrm>
          <a:prstGeom prst="roundRect">
            <a:avLst>
              <a:gd name="adj" fmla="val 6000"/>
            </a:avLst>
          </a:prstGeom>
          <a:solidFill>
            <a:srgbClr val="27699A"/>
          </a:solidFill>
          <a:ln w="12700">
            <a:solidFill>
              <a:srgbClr val="276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1664208"/>
            <a:ext cx="50292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 Mono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50608" y="1618488"/>
            <a:ext cx="4297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>
                <a:solidFill>
                  <a:srgbClr val="142A3F"/>
                </a:solidFill>
                <a:latin typeface="Aptos"/>
              </a:rPr>
              <a:t>Algorithm code snippets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50608" y="2075688"/>
            <a:ext cx="4343400" cy="18288"/>
          </a:xfrm>
          <a:prstGeom prst="rect">
            <a:avLst/>
          </a:prstGeom>
          <a:solidFill>
            <a:srgbClr val="E2EAED"/>
          </a:solidFill>
          <a:ln w="12700">
            <a:solidFill>
              <a:srgbClr val="E2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00800" y="2395728"/>
            <a:ext cx="502920" cy="347472"/>
          </a:xfrm>
          <a:prstGeom prst="roundRect">
            <a:avLst>
              <a:gd name="adj" fmla="val 6000"/>
            </a:avLst>
          </a:prstGeom>
          <a:solidFill>
            <a:srgbClr val="27699A"/>
          </a:solidFill>
          <a:ln w="12700">
            <a:solidFill>
              <a:srgbClr val="276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2459736"/>
            <a:ext cx="50292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 Mono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50608" y="2414016"/>
            <a:ext cx="4297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>
                <a:solidFill>
                  <a:srgbClr val="142A3F"/>
                </a:solidFill>
                <a:latin typeface="Aptos"/>
              </a:rPr>
              <a:t>Implementation and evaluation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50608" y="2871216"/>
            <a:ext cx="4343400" cy="18288"/>
          </a:xfrm>
          <a:prstGeom prst="rect">
            <a:avLst/>
          </a:prstGeom>
          <a:solidFill>
            <a:srgbClr val="E2EAED"/>
          </a:solidFill>
          <a:ln w="12700">
            <a:solidFill>
              <a:srgbClr val="E2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400800" y="3191256"/>
            <a:ext cx="502920" cy="347472"/>
          </a:xfrm>
          <a:prstGeom prst="roundRect">
            <a:avLst>
              <a:gd name="adj" fmla="val 6000"/>
            </a:avLst>
          </a:prstGeom>
          <a:solidFill>
            <a:srgbClr val="27699A"/>
          </a:solidFill>
          <a:ln w="12700">
            <a:solidFill>
              <a:srgbClr val="276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3255264"/>
            <a:ext cx="50292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 Mono"/>
              </a:rPr>
              <a:t>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50608" y="3209544"/>
            <a:ext cx="4297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>
                <a:solidFill>
                  <a:srgbClr val="142A3F"/>
                </a:solidFill>
                <a:latin typeface="Aptos"/>
              </a:rPr>
              <a:t>Novelty and contribution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50608" y="3666744"/>
            <a:ext cx="4343400" cy="18288"/>
          </a:xfrm>
          <a:prstGeom prst="rect">
            <a:avLst/>
          </a:prstGeom>
          <a:solidFill>
            <a:srgbClr val="E2EAED"/>
          </a:solidFill>
          <a:ln w="12700">
            <a:solidFill>
              <a:srgbClr val="E2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400800" y="3986783"/>
            <a:ext cx="502920" cy="347472"/>
          </a:xfrm>
          <a:prstGeom prst="roundRect">
            <a:avLst>
              <a:gd name="adj" fmla="val 6000"/>
            </a:avLst>
          </a:prstGeom>
          <a:solidFill>
            <a:srgbClr val="27699A"/>
          </a:solidFill>
          <a:ln w="12700">
            <a:solidFill>
              <a:srgbClr val="276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4050791"/>
            <a:ext cx="50292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 Mono"/>
              </a:rPr>
              <a:t>09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50608" y="4005071"/>
            <a:ext cx="4297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>
                <a:solidFill>
                  <a:srgbClr val="142A3F"/>
                </a:solidFill>
                <a:latin typeface="Aptos"/>
              </a:rPr>
              <a:t>Limitations and safety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50608" y="4462271"/>
            <a:ext cx="4343400" cy="18288"/>
          </a:xfrm>
          <a:prstGeom prst="rect">
            <a:avLst/>
          </a:prstGeom>
          <a:solidFill>
            <a:srgbClr val="E2EAED"/>
          </a:solidFill>
          <a:ln w="12700">
            <a:solidFill>
              <a:srgbClr val="E2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400800" y="4782312"/>
            <a:ext cx="502920" cy="347472"/>
          </a:xfrm>
          <a:prstGeom prst="roundRect">
            <a:avLst>
              <a:gd name="adj" fmla="val 6000"/>
            </a:avLst>
          </a:prstGeom>
          <a:solidFill>
            <a:srgbClr val="27699A"/>
          </a:solidFill>
          <a:ln w="12700">
            <a:solidFill>
              <a:srgbClr val="276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4846320"/>
            <a:ext cx="50292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 Mono"/>
              </a:rPr>
              <a:t>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50608" y="4800600"/>
            <a:ext cx="4297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>
                <a:solidFill>
                  <a:srgbClr val="142A3F"/>
                </a:solidFill>
                <a:latin typeface="Aptos"/>
              </a:rPr>
              <a:t>Conclusion and references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150608" y="5257800"/>
            <a:ext cx="4343400" cy="18288"/>
          </a:xfrm>
          <a:prstGeom prst="rect">
            <a:avLst/>
          </a:prstGeom>
          <a:solidFill>
            <a:srgbClr val="E2EAED"/>
          </a:solidFill>
          <a:ln w="12700">
            <a:solidFill>
              <a:srgbClr val="E2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2A3F"/>
          </a:solidFill>
          <a:ln w="12700">
            <a:solidFill>
              <a:srgbClr val="142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29260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59791"/>
                </a:solidFill>
                <a:latin typeface="Aptos Mono"/>
              </a:rPr>
              <a:t>SAFESTRIDE ASSIST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47472"/>
            <a:ext cx="23317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>
                <a:solidFill>
                  <a:srgbClr val="5B6C77"/>
                </a:solidFill>
                <a:latin typeface="Aptos Mono"/>
              </a:rP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858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42A3F"/>
                </a:solidFill>
                <a:latin typeface="Aptos"/>
              </a:rPr>
              <a:t>Introduction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61872"/>
            <a:ext cx="10972800" cy="18288"/>
          </a:xfrm>
          <a:prstGeom prst="rect">
            <a:avLst/>
          </a:prstGeom>
          <a:solidFill>
            <a:srgbClr val="E2EAED"/>
          </a:solidFill>
          <a:ln w="12700">
            <a:solidFill>
              <a:srgbClr val="E2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61320" y="6473952"/>
            <a:ext cx="96012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B6C77"/>
                </a:solidFill>
                <a:latin typeface="Aptos Mono"/>
              </a:rPr>
              <a:t>B15  | 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00200"/>
            <a:ext cx="66294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42A3F"/>
                </a:solidFill>
                <a:latin typeface="Aptos"/>
              </a:rPr>
              <a:t>Assistive technology should reduce uncertainty without removing the user's control.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14600"/>
            <a:ext cx="5989320" cy="23317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D2B36"/>
                </a:solidFill>
                <a:latin typeface="Aptos"/>
              </a:defRPr>
            </a:pPr>
            <a:r>
              <a:t>• Traditional mobility aids remain essential for safe navigation.</a:t>
            </a:r>
          </a:p>
          <a:p>
            <a:pPr>
              <a:spcAft>
                <a:spcPts val="1200"/>
              </a:spcAft>
              <a:defRPr sz="1800">
                <a:solidFill>
                  <a:srgbClr val="1D2B36"/>
                </a:solidFill>
                <a:latin typeface="Aptos"/>
              </a:defRPr>
            </a:pPr>
            <a:r>
              <a:t>• A camera can provide an additional perception channel in unfamiliar environments.</a:t>
            </a:r>
          </a:p>
          <a:p>
            <a:pPr>
              <a:spcAft>
                <a:spcPts val="1200"/>
              </a:spcAft>
              <a:defRPr sz="1800">
                <a:solidFill>
                  <a:srgbClr val="1D2B36"/>
                </a:solidFill>
                <a:latin typeface="Aptos"/>
              </a:defRPr>
            </a:pPr>
            <a:r>
              <a:t>• The useful question is not only what is visible, but what is relevant to the forward path.</a:t>
            </a:r>
          </a:p>
          <a:p>
            <a:pPr>
              <a:spcAft>
                <a:spcPts val="1200"/>
              </a:spcAft>
              <a:defRPr sz="1800">
                <a:solidFill>
                  <a:srgbClr val="1D2B36"/>
                </a:solidFill>
                <a:latin typeface="Aptos"/>
              </a:defRPr>
            </a:pPr>
            <a:r>
              <a:t>• Feedback must be short, prioritised, and understandable under time pressure.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1645920"/>
            <a:ext cx="3474720" cy="4160520"/>
          </a:xfrm>
          <a:prstGeom prst="roundRect">
            <a:avLst>
              <a:gd name="adj" fmla="val 6000"/>
            </a:avLst>
          </a:prstGeom>
          <a:solidFill>
            <a:srgbClr val="1C2F39"/>
          </a:solidFill>
          <a:ln w="12700">
            <a:solidFill>
              <a:srgbClr val="142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53527" y="1755648"/>
            <a:ext cx="3255263" cy="1747418"/>
          </a:xfrm>
          <a:prstGeom prst="rect">
            <a:avLst/>
          </a:prstGeom>
          <a:solidFill>
            <a:srgbClr val="4C6970"/>
          </a:solidFill>
          <a:ln w="12700">
            <a:solidFill>
              <a:srgbClr val="4C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53527" y="3892600"/>
            <a:ext cx="3255263" cy="1414576"/>
          </a:xfrm>
          <a:prstGeom prst="rect">
            <a:avLst/>
          </a:prstGeom>
          <a:solidFill>
            <a:srgbClr val="5C7165"/>
          </a:solidFill>
          <a:ln w="12700">
            <a:solidFill>
              <a:srgbClr val="5C71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7653527" y="3892600"/>
            <a:ext cx="325526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10800000">
            <a:off x="8759952" y="3726180"/>
            <a:ext cx="1042415" cy="1414576"/>
          </a:xfrm>
          <a:prstGeom prst="triangle">
            <a:avLst/>
          </a:prstGeom>
          <a:solidFill>
            <a:srgbClr val="58C2B4"/>
          </a:solidFill>
          <a:ln>
            <a:solidFill>
              <a:srgbClr val="25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489643" y="3434943"/>
            <a:ext cx="451713" cy="915314"/>
          </a:xfrm>
          <a:prstGeom prst="roundRect">
            <a:avLst>
              <a:gd name="adj" fmla="val 6000"/>
            </a:avLst>
          </a:prstGeom>
          <a:solidFill>
            <a:srgbClr val="E08739"/>
          </a:solidFill>
          <a:ln w="12700">
            <a:solidFill>
              <a:srgbClr val="E08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41356" y="3476548"/>
            <a:ext cx="764438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2.0 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5367527"/>
            <a:ext cx="30175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 Mono"/>
              </a:rPr>
              <a:t>FORWARD CORRIDOR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1874519"/>
            <a:ext cx="1325880" cy="292608"/>
          </a:xfrm>
          <a:prstGeom prst="roundRect">
            <a:avLst>
              <a:gd name="adj" fmla="val 6000"/>
            </a:avLst>
          </a:prstGeom>
          <a:solidFill>
            <a:srgbClr val="FFECDA"/>
          </a:solidFill>
          <a:ln w="12700">
            <a:solidFill>
              <a:srgbClr val="FFE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0" y="1924812"/>
            <a:ext cx="13258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BE4343"/>
                </a:solidFill>
                <a:latin typeface="Aptos"/>
              </a:rPr>
              <a:t>PATH BLOCKED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5925312"/>
            <a:ext cx="3474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5B6C77"/>
                </a:solidFill>
                <a:latin typeface="Aptos"/>
              </a:rPr>
              <a:t>Illustrative camera view with a walking corridor and distance-aware blocker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2A3F"/>
          </a:solidFill>
          <a:ln w="12700">
            <a:solidFill>
              <a:srgbClr val="142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29260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59791"/>
                </a:solidFill>
                <a:latin typeface="Aptos Mono"/>
              </a:rPr>
              <a:t>SAFESTRIDE ASSIST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47472"/>
            <a:ext cx="23317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>
                <a:solidFill>
                  <a:srgbClr val="5B6C77"/>
                </a:solidFill>
                <a:latin typeface="Aptos Mono"/>
              </a:rPr>
              <a:t>NEED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858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42A3F"/>
                </a:solidFill>
                <a:latin typeface="Aptos"/>
              </a:rPr>
              <a:t>Problem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61872"/>
            <a:ext cx="10972800" cy="18288"/>
          </a:xfrm>
          <a:prstGeom prst="rect">
            <a:avLst/>
          </a:prstGeom>
          <a:solidFill>
            <a:srgbClr val="E2EAED"/>
          </a:solidFill>
          <a:ln w="12700">
            <a:solidFill>
              <a:srgbClr val="E2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61320" y="6473952"/>
            <a:ext cx="96012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B6C77"/>
                </a:solidFill>
                <a:latin typeface="Aptos Mono"/>
              </a:rPr>
              <a:t>B15  |  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00200"/>
            <a:ext cx="5074920" cy="4526280"/>
          </a:xfrm>
          <a:prstGeom prst="roundRect">
            <a:avLst>
              <a:gd name="adj" fmla="val 6000"/>
            </a:avLst>
          </a:prstGeom>
          <a:solidFill>
            <a:srgbClr val="FEF5F2"/>
          </a:solidFill>
          <a:ln w="12700">
            <a:solidFill>
              <a:srgbClr val="F4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920240"/>
            <a:ext cx="42976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>
                <a:solidFill>
                  <a:srgbClr val="BE4343"/>
                </a:solidFill>
                <a:latin typeface="Aptos"/>
              </a:rPr>
              <a:t>Detection alone is insufficient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697480"/>
            <a:ext cx="4114800" cy="21031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D2B36"/>
                </a:solidFill>
                <a:latin typeface="Aptos"/>
              </a:defRPr>
            </a:pPr>
            <a:r>
              <a:t>• A bounding box does not indicate path relevance.</a:t>
            </a:r>
          </a:p>
          <a:p>
            <a:pPr>
              <a:spcAft>
                <a:spcPts val="1100"/>
              </a:spcAft>
              <a:defRPr sz="1800">
                <a:solidFill>
                  <a:srgbClr val="1D2B36"/>
                </a:solidFill>
                <a:latin typeface="Aptos"/>
              </a:defRPr>
            </a:pPr>
            <a:r>
              <a:t>• A class label does not provide distance or urgency.</a:t>
            </a:r>
          </a:p>
          <a:p>
            <a:pPr>
              <a:spcAft>
                <a:spcPts val="1100"/>
              </a:spcAft>
              <a:defRPr sz="1800">
                <a:solidFill>
                  <a:srgbClr val="1D2B36"/>
                </a:solidFill>
                <a:latin typeface="Aptos"/>
              </a:defRPr>
            </a:pPr>
            <a:r>
              <a:t>• Unknown blockers may not belong to a trained class.</a:t>
            </a:r>
          </a:p>
          <a:p>
            <a:pPr>
              <a:spcAft>
                <a:spcPts val="1100"/>
              </a:spcAft>
              <a:defRPr sz="1800">
                <a:solidFill>
                  <a:srgbClr val="1D2B36"/>
                </a:solidFill>
                <a:latin typeface="Aptos"/>
              </a:defRPr>
            </a:pPr>
            <a:r>
              <a:t>• Frame-by-frame alerts can overwhelm the user.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600200"/>
            <a:ext cx="5074920" cy="4526280"/>
          </a:xfrm>
          <a:prstGeom prst="roundRect">
            <a:avLst>
              <a:gd name="adj" fmla="val 6000"/>
            </a:avLst>
          </a:prstGeom>
          <a:solidFill>
            <a:srgbClr val="EDF7F8"/>
          </a:solidFill>
          <a:ln w="12700">
            <a:solidFill>
              <a:srgbClr val="B4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920240"/>
            <a:ext cx="42976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>
                <a:solidFill>
                  <a:srgbClr val="259791"/>
                </a:solidFill>
                <a:latin typeface="Aptos"/>
              </a:rPr>
              <a:t>SafeStride must decide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2697480"/>
            <a:ext cx="320040" cy="320040"/>
          </a:xfrm>
          <a:prstGeom prst="roundRect">
            <a:avLst>
              <a:gd name="adj" fmla="val 6000"/>
            </a:avLst>
          </a:prstGeom>
          <a:solidFill>
            <a:srgbClr val="259791"/>
          </a:solidFill>
          <a:ln w="12700">
            <a:solidFill>
              <a:srgbClr val="25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2761488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2715768"/>
            <a:ext cx="356616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>
                <a:solidFill>
                  <a:srgbClr val="142A3F"/>
                </a:solidFill>
                <a:latin typeface="Aptos"/>
              </a:rPr>
              <a:t>Is the path blocked?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3337560"/>
            <a:ext cx="320040" cy="320040"/>
          </a:xfrm>
          <a:prstGeom prst="roundRect">
            <a:avLst>
              <a:gd name="adj" fmla="val 6000"/>
            </a:avLst>
          </a:prstGeom>
          <a:solidFill>
            <a:srgbClr val="259791"/>
          </a:solidFill>
          <a:ln w="12700">
            <a:solidFill>
              <a:srgbClr val="25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3401568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355848"/>
            <a:ext cx="356616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>
                <a:solidFill>
                  <a:srgbClr val="142A3F"/>
                </a:solidFill>
                <a:latin typeface="Aptos"/>
              </a:rPr>
              <a:t>How far away is it?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20840" y="3977639"/>
            <a:ext cx="320040" cy="320040"/>
          </a:xfrm>
          <a:prstGeom prst="roundRect">
            <a:avLst>
              <a:gd name="adj" fmla="val 6000"/>
            </a:avLst>
          </a:prstGeom>
          <a:solidFill>
            <a:srgbClr val="259791"/>
          </a:solidFill>
          <a:ln w="12700">
            <a:solidFill>
              <a:srgbClr val="25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4041648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3995927"/>
            <a:ext cx="356616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>
                <a:solidFill>
                  <a:srgbClr val="142A3F"/>
                </a:solidFill>
                <a:latin typeface="Aptos"/>
              </a:rPr>
              <a:t>Which side is clearer?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20840" y="4617720"/>
            <a:ext cx="320040" cy="320040"/>
          </a:xfrm>
          <a:prstGeom prst="roundRect">
            <a:avLst>
              <a:gd name="adj" fmla="val 6000"/>
            </a:avLst>
          </a:prstGeom>
          <a:solidFill>
            <a:srgbClr val="259791"/>
          </a:solidFill>
          <a:ln w="12700">
            <a:solidFill>
              <a:srgbClr val="25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0840" y="4681728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4636007"/>
            <a:ext cx="356616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>
                <a:solidFill>
                  <a:srgbClr val="142A3F"/>
                </a:solidFill>
                <a:latin typeface="Aptos"/>
              </a:rPr>
              <a:t>Should the system speak now?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2A3F"/>
          </a:solidFill>
          <a:ln w="12700">
            <a:solidFill>
              <a:srgbClr val="142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29260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59791"/>
                </a:solidFill>
                <a:latin typeface="Aptos Mono"/>
              </a:rPr>
              <a:t>SAFESTRIDE ASSIST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47472"/>
            <a:ext cx="23317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>
                <a:solidFill>
                  <a:srgbClr val="5B6C77"/>
                </a:solidFill>
                <a:latin typeface="Aptos Mono"/>
              </a:rPr>
              <a:t>RESEARCH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858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42A3F"/>
                </a:solidFill>
                <a:latin typeface="Aptos"/>
              </a:rPr>
              <a:t>Literature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61872"/>
            <a:ext cx="10972800" cy="18288"/>
          </a:xfrm>
          <a:prstGeom prst="rect">
            <a:avLst/>
          </a:prstGeom>
          <a:solidFill>
            <a:srgbClr val="E2EAED"/>
          </a:solidFill>
          <a:ln w="12700">
            <a:solidFill>
              <a:srgbClr val="E2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61320" y="6473952"/>
            <a:ext cx="96012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B6C77"/>
                </a:solidFill>
                <a:latin typeface="Aptos Mono"/>
              </a:rPr>
              <a:t>B15  |  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508760"/>
            <a:ext cx="2148840" cy="502920"/>
          </a:xfrm>
          <a:prstGeom prst="roundRect">
            <a:avLst>
              <a:gd name="adj" fmla="val 6000"/>
            </a:avLst>
          </a:prstGeom>
          <a:solidFill>
            <a:srgbClr val="27699A"/>
          </a:solidFill>
          <a:ln w="12700">
            <a:solidFill>
              <a:srgbClr val="276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45919"/>
            <a:ext cx="196596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Real-time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1581912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42A3F"/>
                </a:solidFill>
                <a:latin typeface="Aptos"/>
              </a:rPr>
              <a:t>YOLO [1]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581912"/>
            <a:ext cx="48463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B6C77"/>
                </a:solidFill>
                <a:latin typeface="Aptos"/>
              </a:rPr>
              <a:t>Fast visual object detection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221991"/>
            <a:ext cx="2148840" cy="502920"/>
          </a:xfrm>
          <a:prstGeom prst="roundRect">
            <a:avLst>
              <a:gd name="adj" fmla="val 6000"/>
            </a:avLst>
          </a:prstGeom>
          <a:solidFill>
            <a:srgbClr val="259791"/>
          </a:solidFill>
          <a:ln w="12700">
            <a:solidFill>
              <a:srgbClr val="25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359151"/>
            <a:ext cx="196596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Temporal tracking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295144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42A3F"/>
                </a:solidFill>
                <a:latin typeface="Aptos"/>
              </a:rPr>
              <a:t>ByteTrack [2]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2295144"/>
            <a:ext cx="48463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B6C77"/>
                </a:solidFill>
                <a:latin typeface="Aptos"/>
              </a:rPr>
              <a:t>Stable identities across frames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2935224"/>
            <a:ext cx="2148840" cy="502920"/>
          </a:xfrm>
          <a:prstGeom prst="roundRect">
            <a:avLst>
              <a:gd name="adj" fmla="val 6000"/>
            </a:avLst>
          </a:prstGeom>
          <a:solidFill>
            <a:srgbClr val="E08739"/>
          </a:solidFill>
          <a:ln w="12700">
            <a:solidFill>
              <a:srgbClr val="E08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072384"/>
            <a:ext cx="196596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Monocular depth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3008376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42A3F"/>
                </a:solidFill>
                <a:latin typeface="Aptos"/>
              </a:rPr>
              <a:t>Depth Anything V2 [3]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3008376"/>
            <a:ext cx="48463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B6C77"/>
                </a:solidFill>
                <a:latin typeface="Aptos"/>
              </a:rPr>
              <a:t>Relative scene-depth estimation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3648456"/>
            <a:ext cx="2148840" cy="502920"/>
          </a:xfrm>
          <a:prstGeom prst="roundRect">
            <a:avLst>
              <a:gd name="adj" fmla="val 6000"/>
            </a:avLst>
          </a:prstGeom>
          <a:solidFill>
            <a:srgbClr val="27699A"/>
          </a:solidFill>
          <a:ln w="12700">
            <a:solidFill>
              <a:srgbClr val="276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785615"/>
            <a:ext cx="196596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Assistive navigation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3721607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42A3F"/>
                </a:solidFill>
                <a:latin typeface="Aptos"/>
              </a:rPr>
              <a:t>Khan, Xu, Eltaher [7, 8, 10]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3721607"/>
            <a:ext cx="48463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B6C77"/>
                </a:solidFill>
                <a:latin typeface="Aptos"/>
              </a:rPr>
              <a:t>Navigation and obstacle-avoidance reviews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4361688"/>
            <a:ext cx="2148840" cy="502920"/>
          </a:xfrm>
          <a:prstGeom prst="roundRect">
            <a:avLst>
              <a:gd name="adj" fmla="val 6000"/>
            </a:avLst>
          </a:prstGeom>
          <a:solidFill>
            <a:srgbClr val="259791"/>
          </a:solidFill>
          <a:ln w="12700">
            <a:solidFill>
              <a:srgbClr val="25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498848"/>
            <a:ext cx="196596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Multimodal feedback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4434840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42A3F"/>
                </a:solidFill>
                <a:latin typeface="Aptos"/>
              </a:rPr>
              <a:t>Katzschmann, Johannesson, Shull [9, 11, 12]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4434840"/>
            <a:ext cx="48463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B6C77"/>
                </a:solidFill>
                <a:latin typeface="Aptos"/>
              </a:rPr>
              <a:t>Haptic and audio guidance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" y="5074920"/>
            <a:ext cx="2148840" cy="502920"/>
          </a:xfrm>
          <a:prstGeom prst="roundRect">
            <a:avLst>
              <a:gd name="adj" fmla="val 6000"/>
            </a:avLst>
          </a:prstGeom>
          <a:solidFill>
            <a:srgbClr val="E08739"/>
          </a:solidFill>
          <a:ln w="12700">
            <a:solidFill>
              <a:srgbClr val="E08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5212080"/>
            <a:ext cx="196596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User-centred control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37560" y="5148072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42A3F"/>
                </a:solidFill>
                <a:latin typeface="Aptos"/>
              </a:rPr>
              <a:t>Ranganeni, Zhang [13, 14]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5148072"/>
            <a:ext cx="48463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B6C77"/>
                </a:solidFill>
                <a:latin typeface="Aptos"/>
              </a:rPr>
              <a:t>Agency and accessible route assistance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5897880"/>
            <a:ext cx="10698480" cy="411480"/>
          </a:xfrm>
          <a:prstGeom prst="roundRect">
            <a:avLst>
              <a:gd name="adj" fmla="val 6000"/>
            </a:avLst>
          </a:prstGeom>
          <a:solidFill>
            <a:srgbClr val="EDF7F8"/>
          </a:solidFill>
          <a:ln w="12700">
            <a:solidFill>
              <a:srgbClr val="ED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6007608"/>
            <a:ext cx="1024128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142A3F"/>
                </a:solidFill>
                <a:latin typeface="Aptos"/>
              </a:rPr>
              <a:t>Gap addressed: integrate perception, geometry, temporal evidence, risk, and human-centred feedback in one local workflow.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2A3F"/>
          </a:solidFill>
          <a:ln w="12700">
            <a:solidFill>
              <a:srgbClr val="142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29260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59791"/>
                </a:solidFill>
                <a:latin typeface="Aptos Mono"/>
              </a:rPr>
              <a:t>SAFESTRIDE ASSIST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47472"/>
            <a:ext cx="23317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>
                <a:solidFill>
                  <a:srgbClr val="5B6C77"/>
                </a:solidFill>
                <a:latin typeface="Aptos Mono"/>
              </a:rPr>
              <a:t>PROPOSED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858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42A3F"/>
                </a:solidFill>
                <a:latin typeface="Aptos"/>
              </a:rPr>
              <a:t>System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61872"/>
            <a:ext cx="10972800" cy="18288"/>
          </a:xfrm>
          <a:prstGeom prst="rect">
            <a:avLst/>
          </a:prstGeom>
          <a:solidFill>
            <a:srgbClr val="E2EAED"/>
          </a:solidFill>
          <a:ln w="12700">
            <a:solidFill>
              <a:srgbClr val="E2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61320" y="6473952"/>
            <a:ext cx="96012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B6C77"/>
                </a:solidFill>
                <a:latin typeface="Aptos Mono"/>
              </a:rPr>
              <a:t>B15  | 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90472"/>
            <a:ext cx="10332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>
                <a:solidFill>
                  <a:srgbClr val="5B6C77"/>
                </a:solidFill>
                <a:latin typeface="Aptos"/>
              </a:rPr>
              <a:t>The architecture separates sensing, spatial reasoning, decisions, and interaction.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148840"/>
            <a:ext cx="1874519" cy="1143000"/>
          </a:xfrm>
          <a:prstGeom prst="roundRect">
            <a:avLst>
              <a:gd name="adj" fmla="val 6000"/>
            </a:avLst>
          </a:prstGeom>
          <a:solidFill>
            <a:srgbClr val="EBF3FA"/>
          </a:solidFill>
          <a:ln w="12700">
            <a:solidFill>
              <a:srgbClr val="276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148840"/>
            <a:ext cx="73152" cy="1143000"/>
          </a:xfrm>
          <a:prstGeom prst="rect">
            <a:avLst/>
          </a:prstGeom>
          <a:solidFill>
            <a:srgbClr val="27699A"/>
          </a:solidFill>
          <a:ln w="12700">
            <a:solidFill>
              <a:srgbClr val="276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313432"/>
            <a:ext cx="1554479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42A3F"/>
                </a:solidFill>
                <a:latin typeface="Aptos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679192"/>
            <a:ext cx="1554479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B6C77"/>
                </a:solidFill>
                <a:latin typeface="Aptos"/>
              </a:rPr>
              <a:t>IP webcam
USB webcam
video clip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54680" y="2148840"/>
            <a:ext cx="2148840" cy="1143000"/>
          </a:xfrm>
          <a:prstGeom prst="roundRect">
            <a:avLst>
              <a:gd name="adj" fmla="val 6000"/>
            </a:avLst>
          </a:prstGeom>
          <a:solidFill>
            <a:srgbClr val="EDF7F8"/>
          </a:solidFill>
          <a:ln w="12700">
            <a:solidFill>
              <a:srgbClr val="25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54680" y="2148840"/>
            <a:ext cx="73152" cy="1143000"/>
          </a:xfrm>
          <a:prstGeom prst="rect">
            <a:avLst/>
          </a:prstGeom>
          <a:solidFill>
            <a:srgbClr val="259791"/>
          </a:solidFill>
          <a:ln w="12700">
            <a:solidFill>
              <a:srgbClr val="25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55848" y="2313432"/>
            <a:ext cx="18288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42A3F"/>
                </a:solidFill>
                <a:latin typeface="Aptos"/>
              </a:rPr>
              <a:t>PERCEPTION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5848" y="2679192"/>
            <a:ext cx="18288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B6C77"/>
                </a:solidFill>
                <a:latin typeface="Aptos"/>
              </a:rPr>
              <a:t>YOLO detection
ByteTrack
Depth Anything V2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0" y="2148840"/>
            <a:ext cx="2148840" cy="114300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2700">
            <a:solidFill>
              <a:srgbClr val="E08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15000" y="2148840"/>
            <a:ext cx="73152" cy="1143000"/>
          </a:xfrm>
          <a:prstGeom prst="rect">
            <a:avLst/>
          </a:prstGeom>
          <a:solidFill>
            <a:srgbClr val="E08739"/>
          </a:solidFill>
          <a:ln w="12700">
            <a:solidFill>
              <a:srgbClr val="E08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16168" y="2313432"/>
            <a:ext cx="18288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42A3F"/>
                </a:solidFill>
                <a:latin typeface="Aptos"/>
              </a:rPr>
              <a:t>SPATIAL REASONING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16168" y="2679192"/>
            <a:ext cx="18288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B6C77"/>
                </a:solidFill>
                <a:latin typeface="Aptos"/>
              </a:rPr>
              <a:t>Ground plane
3D projection
3 m corridor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20" y="2148840"/>
            <a:ext cx="1737360" cy="1143000"/>
          </a:xfrm>
          <a:prstGeom prst="roundRect">
            <a:avLst>
              <a:gd name="adj" fmla="val 6000"/>
            </a:avLst>
          </a:prstGeom>
          <a:solidFill>
            <a:srgbClr val="FEF5F2"/>
          </a:solidFill>
          <a:ln w="12700">
            <a:solidFill>
              <a:srgbClr val="BE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75320" y="2148840"/>
            <a:ext cx="73152" cy="1143000"/>
          </a:xfrm>
          <a:prstGeom prst="rect">
            <a:avLst/>
          </a:prstGeom>
          <a:solidFill>
            <a:srgbClr val="BE4343"/>
          </a:solidFill>
          <a:ln w="12700">
            <a:solidFill>
              <a:srgbClr val="BE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76488" y="2313432"/>
            <a:ext cx="1417319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42A3F"/>
                </a:solidFill>
                <a:latin typeface="Aptos"/>
              </a:rPr>
              <a:t>DECISION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76488" y="2679192"/>
            <a:ext cx="1417319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B6C77"/>
                </a:solidFill>
                <a:latin typeface="Aptos"/>
              </a:rPr>
              <a:t>Risk + TTC
priority
cooldown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424160" y="2148840"/>
            <a:ext cx="1143000" cy="1143000"/>
          </a:xfrm>
          <a:prstGeom prst="roundRect">
            <a:avLst>
              <a:gd name="adj" fmla="val 6000"/>
            </a:avLst>
          </a:prstGeom>
          <a:solidFill>
            <a:srgbClr val="EBF3FA"/>
          </a:solidFill>
          <a:ln w="12700">
            <a:solidFill>
              <a:srgbClr val="276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424160" y="2148840"/>
            <a:ext cx="73152" cy="1143000"/>
          </a:xfrm>
          <a:prstGeom prst="rect">
            <a:avLst/>
          </a:prstGeom>
          <a:solidFill>
            <a:srgbClr val="27699A"/>
          </a:solidFill>
          <a:ln w="12700">
            <a:solidFill>
              <a:srgbClr val="276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25328" y="2313432"/>
            <a:ext cx="82296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42A3F"/>
                </a:solidFill>
                <a:latin typeface="Aptos"/>
              </a:rPr>
              <a:t>USER 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25328" y="2679192"/>
            <a:ext cx="8229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B6C77"/>
                </a:solidFill>
                <a:latin typeface="Aptos"/>
              </a:rPr>
              <a:t>Browser console
voice
captions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697480" y="2724912"/>
            <a:ext cx="347472" cy="0"/>
          </a:xfrm>
          <a:prstGeom prst="line">
            <a:avLst/>
          </a:prstGeom>
          <a:ln w="25400">
            <a:solidFill>
              <a:srgbClr val="142A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49240" y="2724912"/>
            <a:ext cx="347472" cy="0"/>
          </a:xfrm>
          <a:prstGeom prst="line">
            <a:avLst/>
          </a:prstGeom>
          <a:ln w="25400">
            <a:solidFill>
              <a:srgbClr val="142A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909560" y="2724912"/>
            <a:ext cx="347472" cy="0"/>
          </a:xfrm>
          <a:prstGeom prst="line">
            <a:avLst/>
          </a:prstGeom>
          <a:ln w="25400">
            <a:solidFill>
              <a:srgbClr val="142A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040112" y="2724912"/>
            <a:ext cx="347472" cy="0"/>
          </a:xfrm>
          <a:prstGeom prst="line">
            <a:avLst/>
          </a:prstGeom>
          <a:ln w="25400">
            <a:solidFill>
              <a:srgbClr val="142A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234440" y="4114800"/>
            <a:ext cx="9784080" cy="1051560"/>
          </a:xfrm>
          <a:prstGeom prst="roundRect">
            <a:avLst>
              <a:gd name="adj" fmla="val 6000"/>
            </a:avLst>
          </a:prstGeom>
          <a:solidFill>
            <a:srgbClr val="EBF3FA"/>
          </a:solidFill>
          <a:ln w="12700">
            <a:solidFill>
              <a:srgbClr val="276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54480" y="4370832"/>
            <a:ext cx="14630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7699A"/>
                </a:solidFill>
                <a:latin typeface="Aptos"/>
              </a:rPr>
              <a:t>Safety priority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54680" y="434340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42A3F"/>
                </a:solidFill>
                <a:latin typeface="Aptos"/>
              </a:rPr>
              <a:t>urgent camera obstruction  &gt;  local path correction  &gt;  background route/status information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34440" y="5669280"/>
            <a:ext cx="978408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5B6C77"/>
                </a:solidFill>
                <a:latin typeface="Aptos"/>
              </a:rPr>
              <a:t>Local processing keeps the core perception loop independent of remote cloud services.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2A3F"/>
          </a:solidFill>
          <a:ln w="12700">
            <a:solidFill>
              <a:srgbClr val="142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29260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59791"/>
                </a:solidFill>
                <a:latin typeface="Aptos Mono"/>
              </a:rPr>
              <a:t>SAFESTRIDE ASSIST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47472"/>
            <a:ext cx="23317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>
                <a:solidFill>
                  <a:srgbClr val="5B6C77"/>
                </a:solidFill>
                <a:latin typeface="Aptos Mono"/>
              </a:rPr>
              <a:t>HOW THE PROTOTYPE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858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42A3F"/>
                </a:solidFill>
                <a:latin typeface="Aptos"/>
              </a:rPr>
              <a:t>System design and data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61872"/>
            <a:ext cx="10972800" cy="18288"/>
          </a:xfrm>
          <a:prstGeom prst="rect">
            <a:avLst/>
          </a:prstGeom>
          <a:solidFill>
            <a:srgbClr val="E2EAED"/>
          </a:solidFill>
          <a:ln w="12700">
            <a:solidFill>
              <a:srgbClr val="E2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61320" y="6473952"/>
            <a:ext cx="96012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B6C77"/>
                </a:solidFill>
                <a:latin typeface="Aptos Mono"/>
              </a:rPr>
              <a:t>B15  |  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1508760" cy="1143000"/>
          </a:xfrm>
          <a:prstGeom prst="roundRect">
            <a:avLst>
              <a:gd name="adj" fmla="val 6000"/>
            </a:avLst>
          </a:prstGeom>
          <a:solidFill>
            <a:srgbClr val="EBF3FA"/>
          </a:solidFill>
          <a:ln w="12700">
            <a:solidFill>
              <a:srgbClr val="276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993392"/>
            <a:ext cx="32004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08739"/>
                </a:solidFill>
                <a:latin typeface="Aptos Mono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33172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142A3F"/>
                </a:solidFill>
                <a:latin typeface="Aptos"/>
              </a:rPr>
              <a:t>Capture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670048"/>
            <a:ext cx="12801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B6C77"/>
                </a:solidFill>
                <a:latin typeface="Aptos"/>
              </a:rPr>
              <a:t>frame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313432" y="2395728"/>
            <a:ext cx="246888" cy="0"/>
          </a:xfrm>
          <a:prstGeom prst="line">
            <a:avLst/>
          </a:prstGeom>
          <a:ln w="25400">
            <a:solidFill>
              <a:srgbClr val="142A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651760" y="1828800"/>
            <a:ext cx="1508760" cy="1143000"/>
          </a:xfrm>
          <a:prstGeom prst="roundRect">
            <a:avLst>
              <a:gd name="adj" fmla="val 6000"/>
            </a:avLst>
          </a:prstGeom>
          <a:solidFill>
            <a:srgbClr val="EDF7F8"/>
          </a:solidFill>
          <a:ln w="12700">
            <a:solidFill>
              <a:srgbClr val="25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1488" y="1993392"/>
            <a:ext cx="32004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08739"/>
                </a:solidFill>
                <a:latin typeface="Apto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61488" y="233172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142A3F"/>
                </a:solidFill>
                <a:latin typeface="Aptos"/>
              </a:rPr>
              <a:t>Detect + track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61488" y="2670048"/>
            <a:ext cx="12801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B6C77"/>
                </a:solidFill>
                <a:latin typeface="Aptos"/>
              </a:rPr>
              <a:t>objects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87952" y="2395728"/>
            <a:ext cx="246888" cy="0"/>
          </a:xfrm>
          <a:prstGeom prst="line">
            <a:avLst/>
          </a:prstGeom>
          <a:ln w="25400">
            <a:solidFill>
              <a:srgbClr val="142A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526279" y="1828800"/>
            <a:ext cx="1508760" cy="1143000"/>
          </a:xfrm>
          <a:prstGeom prst="roundRect">
            <a:avLst>
              <a:gd name="adj" fmla="val 6000"/>
            </a:avLst>
          </a:prstGeom>
          <a:solidFill>
            <a:srgbClr val="EBF3FA"/>
          </a:solidFill>
          <a:ln w="12700">
            <a:solidFill>
              <a:srgbClr val="276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36007" y="1993392"/>
            <a:ext cx="32004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08739"/>
                </a:solidFill>
                <a:latin typeface="Aptos Mono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6007" y="233172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142A3F"/>
                </a:solidFill>
                <a:latin typeface="Aptos"/>
              </a:rPr>
              <a:t>Estimate depth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6007" y="2670048"/>
            <a:ext cx="12801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B6C77"/>
                </a:solidFill>
                <a:latin typeface="Aptos"/>
              </a:rPr>
              <a:t>geometry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62471" y="2395728"/>
            <a:ext cx="246888" cy="0"/>
          </a:xfrm>
          <a:prstGeom prst="line">
            <a:avLst/>
          </a:prstGeom>
          <a:ln w="25400">
            <a:solidFill>
              <a:srgbClr val="142A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400799" y="1828800"/>
            <a:ext cx="1508760" cy="1143000"/>
          </a:xfrm>
          <a:prstGeom prst="roundRect">
            <a:avLst>
              <a:gd name="adj" fmla="val 6000"/>
            </a:avLst>
          </a:prstGeom>
          <a:solidFill>
            <a:srgbClr val="EDF7F8"/>
          </a:solidFill>
          <a:ln w="12700">
            <a:solidFill>
              <a:srgbClr val="25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0527" y="1993392"/>
            <a:ext cx="32004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08739"/>
                </a:solidFill>
                <a:latin typeface="Aptos Mono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7" y="233172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142A3F"/>
                </a:solidFill>
                <a:latin typeface="Aptos"/>
              </a:rPr>
              <a:t>Evaluate corridor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7" y="2670048"/>
            <a:ext cx="12801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B6C77"/>
                </a:solidFill>
                <a:latin typeface="Aptos"/>
              </a:rPr>
              <a:t>path status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936992" y="2395728"/>
            <a:ext cx="246887" cy="0"/>
          </a:xfrm>
          <a:prstGeom prst="line">
            <a:avLst/>
          </a:prstGeom>
          <a:ln w="25400">
            <a:solidFill>
              <a:srgbClr val="142A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275319" y="1828800"/>
            <a:ext cx="1508760" cy="1143000"/>
          </a:xfrm>
          <a:prstGeom prst="roundRect">
            <a:avLst>
              <a:gd name="adj" fmla="val 6000"/>
            </a:avLst>
          </a:prstGeom>
          <a:solidFill>
            <a:srgbClr val="EBF3FA"/>
          </a:solidFill>
          <a:ln w="12700">
            <a:solidFill>
              <a:srgbClr val="276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85047" y="1993392"/>
            <a:ext cx="32004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08739"/>
                </a:solidFill>
                <a:latin typeface="Aptos Mono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5047" y="233172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142A3F"/>
                </a:solidFill>
                <a:latin typeface="Aptos"/>
              </a:rPr>
              <a:t>Rank alert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5047" y="2670048"/>
            <a:ext cx="12801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B6C77"/>
                </a:solidFill>
                <a:latin typeface="Aptos"/>
              </a:rPr>
              <a:t>urgency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811511" y="2395728"/>
            <a:ext cx="246888" cy="0"/>
          </a:xfrm>
          <a:prstGeom prst="line">
            <a:avLst/>
          </a:prstGeom>
          <a:ln w="25400">
            <a:solidFill>
              <a:srgbClr val="142A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149840" y="1828800"/>
            <a:ext cx="1508760" cy="1143000"/>
          </a:xfrm>
          <a:prstGeom prst="roundRect">
            <a:avLst>
              <a:gd name="adj" fmla="val 6000"/>
            </a:avLst>
          </a:prstGeom>
          <a:solidFill>
            <a:srgbClr val="EDF7F8"/>
          </a:solidFill>
          <a:ln w="12700">
            <a:solidFill>
              <a:srgbClr val="25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59567" y="1993392"/>
            <a:ext cx="32004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08739"/>
                </a:solidFill>
                <a:latin typeface="Aptos Mono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59567" y="233172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142A3F"/>
                </a:solidFill>
                <a:latin typeface="Aptos"/>
              </a:rPr>
              <a:t>Speak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59567" y="2670048"/>
            <a:ext cx="12801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B6C77"/>
                </a:solidFill>
                <a:latin typeface="Aptos"/>
              </a:rPr>
              <a:t>guidance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" y="3703320"/>
            <a:ext cx="3657600" cy="2011680"/>
          </a:xfrm>
          <a:prstGeom prst="roundRect">
            <a:avLst>
              <a:gd name="adj" fmla="val 6000"/>
            </a:avLst>
          </a:prstGeom>
          <a:solidFill>
            <a:srgbClr val="1C2F39"/>
          </a:solidFill>
          <a:ln w="12700">
            <a:solidFill>
              <a:srgbClr val="142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32688" y="3813048"/>
            <a:ext cx="3438144" cy="844905"/>
          </a:xfrm>
          <a:prstGeom prst="rect">
            <a:avLst/>
          </a:prstGeom>
          <a:solidFill>
            <a:srgbClr val="4C6970"/>
          </a:solidFill>
          <a:ln w="12700">
            <a:solidFill>
              <a:srgbClr val="4C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32688" y="4789627"/>
            <a:ext cx="3438144" cy="683971"/>
          </a:xfrm>
          <a:prstGeom prst="rect">
            <a:avLst/>
          </a:prstGeom>
          <a:solidFill>
            <a:srgbClr val="5C7165"/>
          </a:solidFill>
          <a:ln w="12700">
            <a:solidFill>
              <a:srgbClr val="5C71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932688" y="4789627"/>
            <a:ext cx="3438144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Isosceles Triangle 40"/>
          <p:cNvSpPr/>
          <p:nvPr/>
        </p:nvSpPr>
        <p:spPr>
          <a:xfrm rot="10800000">
            <a:off x="2103120" y="4709160"/>
            <a:ext cx="1097280" cy="683971"/>
          </a:xfrm>
          <a:prstGeom prst="triangle">
            <a:avLst/>
          </a:prstGeom>
          <a:solidFill>
            <a:srgbClr val="58C2B4"/>
          </a:solidFill>
          <a:ln>
            <a:solidFill>
              <a:srgbClr val="25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871216" y="4568342"/>
            <a:ext cx="475488" cy="442569"/>
          </a:xfrm>
          <a:prstGeom prst="roundRect">
            <a:avLst>
              <a:gd name="adj" fmla="val 6000"/>
            </a:avLst>
          </a:prstGeom>
          <a:solidFill>
            <a:srgbClr val="E08739"/>
          </a:solidFill>
          <a:ln w="12700">
            <a:solidFill>
              <a:srgbClr val="E08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46703" y="4588459"/>
            <a:ext cx="804672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2.0 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276088"/>
            <a:ext cx="32004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 Mono"/>
              </a:rPr>
              <a:t>FORWARD CORRIDOR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51560" y="3931920"/>
            <a:ext cx="1325880" cy="292608"/>
          </a:xfrm>
          <a:prstGeom prst="roundRect">
            <a:avLst>
              <a:gd name="adj" fmla="val 6000"/>
            </a:avLst>
          </a:prstGeom>
          <a:solidFill>
            <a:srgbClr val="FFECDA"/>
          </a:solidFill>
          <a:ln w="12700">
            <a:solidFill>
              <a:srgbClr val="FFE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51560" y="3982211"/>
            <a:ext cx="13258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BE4343"/>
                </a:solidFill>
                <a:latin typeface="Aptos"/>
              </a:rPr>
              <a:t>PATH BLOCKED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800600" y="3703320"/>
            <a:ext cx="2743200" cy="2011680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 w="12700">
            <a:solidFill>
              <a:srgbClr val="E2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74920" y="3977639"/>
            <a:ext cx="214884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59791"/>
                </a:solidFill>
                <a:latin typeface="Aptos Mono"/>
              </a:rPr>
              <a:t>STATE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74920" y="4434840"/>
            <a:ext cx="214884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142A3F"/>
                </a:solidFill>
                <a:latin typeface="Aptos"/>
              </a:rPr>
              <a:t>Path: BLOCKED
Nearest: 2.0 m
Direction: right
Advice: KEEP LEFT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863840" y="3703320"/>
            <a:ext cx="3474720" cy="2011680"/>
          </a:xfrm>
          <a:prstGeom prst="roundRect">
            <a:avLst>
              <a:gd name="adj" fmla="val 6000"/>
            </a:avLst>
          </a:prstGeom>
          <a:solidFill>
            <a:srgbClr val="FEF5F2"/>
          </a:solidFill>
          <a:ln w="12700">
            <a:solidFill>
              <a:srgbClr val="F4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83879" y="3977639"/>
            <a:ext cx="283464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BE4343"/>
                </a:solidFill>
                <a:latin typeface="Aptos Mono"/>
              </a:rPr>
              <a:t>VOICE OUTPUT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83879" y="4526280"/>
            <a:ext cx="28346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142A3F"/>
                </a:solidFill>
                <a:latin typeface="Aptos"/>
              </a:rPr>
              <a:t>Stop. Path blocked,
2 meters. Keep left.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2A3F"/>
          </a:solidFill>
          <a:ln w="12700">
            <a:solidFill>
              <a:srgbClr val="142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29260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59791"/>
                </a:solidFill>
                <a:latin typeface="Aptos Mono"/>
              </a:rPr>
              <a:t>SAFESTRIDE ASSIST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47472"/>
            <a:ext cx="23317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>
                <a:solidFill>
                  <a:srgbClr val="5B6C77"/>
                </a:solidFill>
                <a:latin typeface="Aptos Mono"/>
              </a:rPr>
              <a:t>SYSTEM DESIGN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858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42A3F"/>
                </a:solidFill>
                <a:latin typeface="Aptos"/>
              </a:rPr>
              <a:t>Spatial reasoning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61872"/>
            <a:ext cx="10972800" cy="18288"/>
          </a:xfrm>
          <a:prstGeom prst="rect">
            <a:avLst/>
          </a:prstGeom>
          <a:solidFill>
            <a:srgbClr val="E2EAED"/>
          </a:solidFill>
          <a:ln w="12700">
            <a:solidFill>
              <a:srgbClr val="E2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61320" y="6473952"/>
            <a:ext cx="96012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B6C77"/>
                </a:solidFill>
                <a:latin typeface="Aptos Mono"/>
              </a:rPr>
              <a:t>B15  | 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81328"/>
            <a:ext cx="10424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>
                <a:solidFill>
                  <a:srgbClr val="5B6C77"/>
                </a:solidFill>
                <a:latin typeface="Aptos"/>
              </a:rPr>
              <a:t>The key design decision is to evaluate the user's forward corridor, not every detected object.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874519"/>
            <a:ext cx="4709160" cy="3611880"/>
          </a:xfrm>
          <a:prstGeom prst="roundRect">
            <a:avLst>
              <a:gd name="adj" fmla="val 6000"/>
            </a:avLst>
          </a:prstGeom>
          <a:solidFill>
            <a:srgbClr val="1C2F39"/>
          </a:solidFill>
          <a:ln w="12700">
            <a:solidFill>
              <a:srgbClr val="142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32688" y="1984248"/>
            <a:ext cx="4489704" cy="1516989"/>
          </a:xfrm>
          <a:prstGeom prst="rect">
            <a:avLst/>
          </a:prstGeom>
          <a:solidFill>
            <a:srgbClr val="4C6970"/>
          </a:solidFill>
          <a:ln w="12700">
            <a:solidFill>
              <a:srgbClr val="4C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32688" y="3824935"/>
            <a:ext cx="4489704" cy="1228039"/>
          </a:xfrm>
          <a:prstGeom prst="rect">
            <a:avLst/>
          </a:prstGeom>
          <a:solidFill>
            <a:srgbClr val="5C7165"/>
          </a:solidFill>
          <a:ln w="12700">
            <a:solidFill>
              <a:srgbClr val="5C71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932688" y="3824935"/>
            <a:ext cx="4489704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10800000">
            <a:off x="2471166" y="3680460"/>
            <a:ext cx="1412748" cy="1228039"/>
          </a:xfrm>
          <a:prstGeom prst="triangle">
            <a:avLst/>
          </a:prstGeom>
          <a:solidFill>
            <a:srgbClr val="58C2B4"/>
          </a:solidFill>
          <a:ln>
            <a:solidFill>
              <a:srgbClr val="25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60089" y="3427628"/>
            <a:ext cx="612190" cy="794613"/>
          </a:xfrm>
          <a:prstGeom prst="roundRect">
            <a:avLst>
              <a:gd name="adj" fmla="val 6000"/>
            </a:avLst>
          </a:prstGeom>
          <a:solidFill>
            <a:srgbClr val="E08739"/>
          </a:solidFill>
          <a:ln w="12700">
            <a:solidFill>
              <a:srgbClr val="E08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72280" y="3463747"/>
            <a:ext cx="1036015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2.0 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047488"/>
            <a:ext cx="425196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 Mono"/>
              </a:rPr>
              <a:t>FORWARD CORRIDOR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2103120"/>
            <a:ext cx="1325880" cy="292608"/>
          </a:xfrm>
          <a:prstGeom prst="roundRect">
            <a:avLst>
              <a:gd name="adj" fmla="val 6000"/>
            </a:avLst>
          </a:prstGeom>
          <a:solidFill>
            <a:srgbClr val="FFECDA"/>
          </a:solidFill>
          <a:ln w="12700">
            <a:solidFill>
              <a:srgbClr val="FFE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2153412"/>
            <a:ext cx="13258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BE4343"/>
                </a:solidFill>
                <a:latin typeface="Aptos"/>
              </a:rPr>
              <a:t>PATH BLOCKED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0" y="1874519"/>
            <a:ext cx="5029200" cy="3611880"/>
          </a:xfrm>
          <a:prstGeom prst="roundRect">
            <a:avLst>
              <a:gd name="adj" fmla="val 6000"/>
            </a:avLst>
          </a:prstGeom>
          <a:solidFill>
            <a:srgbClr val="EDF7F8"/>
          </a:solidFill>
          <a:ln w="12700">
            <a:solidFill>
              <a:srgbClr val="B4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212848"/>
            <a:ext cx="42976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>
                <a:solidFill>
                  <a:srgbClr val="259791"/>
                </a:solidFill>
                <a:latin typeface="Aptos"/>
              </a:rPr>
              <a:t>Corridor reasoning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852928"/>
            <a:ext cx="4114800" cy="21031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D2B36"/>
                </a:solidFill>
                <a:latin typeface="Aptos"/>
              </a:defRPr>
            </a:pPr>
            <a:r>
              <a:t>• Estimate relative depth with Depth Anything V2.</a:t>
            </a:r>
          </a:p>
          <a:p>
            <a:pPr>
              <a:spcAft>
                <a:spcPts val="900"/>
              </a:spcAft>
              <a:defRPr sz="1600">
                <a:solidFill>
                  <a:srgbClr val="1D2B36"/>
                </a:solidFill>
                <a:latin typeface="Aptos"/>
              </a:defRPr>
            </a:pPr>
            <a:r>
              <a:t>• Fit a ground plane using the lower image region.</a:t>
            </a:r>
          </a:p>
          <a:p>
            <a:pPr>
              <a:spcAft>
                <a:spcPts val="900"/>
              </a:spcAft>
              <a:defRPr sz="1600">
                <a:solidFill>
                  <a:srgbClr val="1D2B36"/>
                </a:solidFill>
                <a:latin typeface="Aptos"/>
              </a:defRPr>
            </a:pPr>
            <a:r>
              <a:t>• Project depth into approximate 3D points.</a:t>
            </a:r>
          </a:p>
          <a:p>
            <a:pPr>
              <a:spcAft>
                <a:spcPts val="900"/>
              </a:spcAft>
              <a:defRPr sz="1600">
                <a:solidFill>
                  <a:srgbClr val="1D2B36"/>
                </a:solidFill>
                <a:latin typeface="Aptos"/>
              </a:defRPr>
            </a:pPr>
            <a:r>
              <a:t>• Evaluate a one-metre-wide corridor up to three metres ahead.</a:t>
            </a:r>
          </a:p>
          <a:p>
            <a:pPr>
              <a:spcAft>
                <a:spcPts val="900"/>
              </a:spcAft>
              <a:defRPr sz="1600">
                <a:solidFill>
                  <a:srgbClr val="1D2B36"/>
                </a:solidFill>
                <a:latin typeface="Aptos"/>
              </a:defRPr>
            </a:pPr>
            <a:r>
              <a:t>• Mark named or unknown blockers as in_path when geometry supports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2A3F"/>
          </a:solidFill>
          <a:ln w="12700">
            <a:solidFill>
              <a:srgbClr val="142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29260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59791"/>
                </a:solidFill>
                <a:latin typeface="Aptos Mono"/>
              </a:rPr>
              <a:t>SAFESTRIDE ASSIST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47472"/>
            <a:ext cx="23317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>
                <a:solidFill>
                  <a:srgbClr val="5B6C77"/>
                </a:solidFill>
                <a:latin typeface="Aptos Mono"/>
              </a:rPr>
              <a:t>ALGORITHM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858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42A3F"/>
                </a:solidFill>
                <a:latin typeface="Aptos"/>
              </a:rPr>
              <a:t>Mathematical formulation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61872"/>
            <a:ext cx="10972800" cy="18288"/>
          </a:xfrm>
          <a:prstGeom prst="rect">
            <a:avLst/>
          </a:prstGeom>
          <a:solidFill>
            <a:srgbClr val="E2EAED"/>
          </a:solidFill>
          <a:ln w="12700">
            <a:solidFill>
              <a:srgbClr val="E2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61320" y="6473952"/>
            <a:ext cx="96012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B6C77"/>
                </a:solidFill>
                <a:latin typeface="Aptos Mono"/>
              </a:rPr>
              <a:t>B15  | 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81328"/>
            <a:ext cx="10424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>
                <a:solidFill>
                  <a:srgbClr val="5B6C77"/>
                </a:solidFill>
                <a:latin typeface="Aptos"/>
              </a:rPr>
              <a:t>The implementation combines learned estimates with deterministic geometric and risk rules.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28800"/>
            <a:ext cx="3429000" cy="3520440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 w="12700">
            <a:solidFill>
              <a:srgbClr val="276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993392"/>
            <a:ext cx="30632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7699A"/>
                </a:solidFill>
                <a:latin typeface="Aptos Mono"/>
              </a:rPr>
              <a:t>DEPTH TO APPROXIMATE DISTANCE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95728"/>
            <a:ext cx="2971800" cy="2743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900" b="0">
                <a:solidFill>
                  <a:srgbClr val="142A3F"/>
                </a:solidFill>
                <a:latin typeface="Cambria Math"/>
              </a:rPr>
              <a:t>Z ~= (f * H) / h
X = (u - c_x) Z / f_x
Y = (v - c_y) Z / f_y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828800"/>
            <a:ext cx="3429000" cy="3520440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 w="12700">
            <a:solidFill>
              <a:srgbClr val="25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993392"/>
            <a:ext cx="30632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59791"/>
                </a:solidFill>
                <a:latin typeface="Aptos Mono"/>
              </a:rPr>
              <a:t>GROUND PLANE AND CORRIDOR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395728"/>
            <a:ext cx="2971800" cy="2743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900" b="0">
                <a:solidFill>
                  <a:srgbClr val="142A3F"/>
                </a:solidFill>
                <a:latin typeface="Cambria Math"/>
              </a:rPr>
              <a:t>pi: aX + bY + cZ + d = 0
C = {p : |X| &lt;= 0.5,
0.8 &lt;= Z &lt;= 3.0}
blocked = 1 if |C_blocked| &gt;= tau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828800"/>
            <a:ext cx="3429000" cy="3520440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 w="12700">
            <a:solidFill>
              <a:srgbClr val="E08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79" y="1993392"/>
            <a:ext cx="30632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E08739"/>
                </a:solidFill>
                <a:latin typeface="Aptos Mono"/>
              </a:rPr>
              <a:t>RISK AND ALERT PRIORITY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395728"/>
            <a:ext cx="2971800" cy="2743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900" b="0">
                <a:solidFill>
                  <a:srgbClr val="142A3F"/>
                </a:solidFill>
                <a:latin typeface="Cambria Math"/>
              </a:rPr>
              <a:t>TTC = d / max(v_app, eps)
R = w_p P + w_d / (d + eps)
    + w_t / (TTC + eps)
    + w_s S
alert = argmax(R)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715000"/>
            <a:ext cx="1024128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5B6C77"/>
                </a:solidFill>
                <a:latin typeface="Aptos"/>
              </a:rPr>
              <a:t>Z: estimated distance  |  f: focal length  |  H: camera height  |  h: image height  |  tau: blocker threshold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2A3F"/>
          </a:solidFill>
          <a:ln w="12700">
            <a:solidFill>
              <a:srgbClr val="142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29260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59791"/>
                </a:solidFill>
                <a:latin typeface="Aptos Mono"/>
              </a:rPr>
              <a:t>SAFESTRIDE ASSIST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47472"/>
            <a:ext cx="23317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>
                <a:solidFill>
                  <a:srgbClr val="5B6C77"/>
                </a:solidFill>
                <a:latin typeface="Aptos Mono"/>
              </a:rPr>
              <a:t>PROTOTYPE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858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42A3F"/>
                </a:solidFill>
                <a:latin typeface="Aptos"/>
              </a:rPr>
              <a:t>Implementation and evaluation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61872"/>
            <a:ext cx="10972800" cy="18288"/>
          </a:xfrm>
          <a:prstGeom prst="rect">
            <a:avLst/>
          </a:prstGeom>
          <a:solidFill>
            <a:srgbClr val="E2EAED"/>
          </a:solidFill>
          <a:ln w="12700">
            <a:solidFill>
              <a:srgbClr val="E2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61320" y="6473952"/>
            <a:ext cx="96012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B6C77"/>
                </a:solidFill>
                <a:latin typeface="Aptos Mono"/>
              </a:rPr>
              <a:t>B15  | 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00200"/>
            <a:ext cx="5166360" cy="4343400"/>
          </a:xfrm>
          <a:prstGeom prst="roundRect">
            <a:avLst>
              <a:gd name="adj" fmla="val 6000"/>
            </a:avLst>
          </a:prstGeom>
          <a:solidFill>
            <a:srgbClr val="EBF3FA"/>
          </a:solidFill>
          <a:ln w="12700">
            <a:solidFill>
              <a:srgbClr val="EB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920240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42A3F"/>
                </a:solidFill>
                <a:latin typeface="Aptos"/>
              </a:rPr>
              <a:t>Implemented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606040"/>
            <a:ext cx="4251960" cy="22402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D2B36"/>
                </a:solidFill>
                <a:latin typeface="Aptos"/>
              </a:defRPr>
            </a:pPr>
            <a:r>
              <a:t>• Python 3.10+ and PyTorch</a:t>
            </a:r>
          </a:p>
          <a:p>
            <a:pPr>
              <a:spcAft>
                <a:spcPts val="1000"/>
              </a:spcAft>
              <a:defRPr sz="1700">
                <a:solidFill>
                  <a:srgbClr val="1D2B36"/>
                </a:solidFill>
                <a:latin typeface="Aptos"/>
              </a:defRPr>
            </a:pPr>
            <a:r>
              <a:t>• OpenCV and Ultralytics YOLO11s</a:t>
            </a:r>
          </a:p>
          <a:p>
            <a:pPr>
              <a:spcAft>
                <a:spcPts val="1000"/>
              </a:spcAft>
              <a:defRPr sz="1700">
                <a:solidFill>
                  <a:srgbClr val="1D2B36"/>
                </a:solidFill>
                <a:latin typeface="Aptos"/>
              </a:defRPr>
            </a:pPr>
            <a:r>
              <a:t>• ByteTrack and Depth Anything V2</a:t>
            </a:r>
          </a:p>
          <a:p>
            <a:pPr>
              <a:spcAft>
                <a:spcPts val="1000"/>
              </a:spcAft>
              <a:defRPr sz="1700">
                <a:solidFill>
                  <a:srgbClr val="1D2B36"/>
                </a:solidFill>
                <a:latin typeface="Aptos"/>
              </a:defRPr>
            </a:pPr>
            <a:r>
              <a:t>• Browser live console with captions and speech</a:t>
            </a:r>
          </a:p>
          <a:p>
            <a:pPr>
              <a:spcAft>
                <a:spcPts val="1000"/>
              </a:spcAft>
              <a:defRPr sz="1700">
                <a:solidFill>
                  <a:srgbClr val="1D2B36"/>
                </a:solidFill>
                <a:latin typeface="Aptos"/>
              </a:defRPr>
            </a:pPr>
            <a:r>
              <a:t>• IP webcam, USB webcam, uploaded video, or test clip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600200"/>
            <a:ext cx="4983480" cy="434340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2700">
            <a:solidFill>
              <a:srgbClr val="F6DC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1920240"/>
            <a:ext cx="3474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E08739"/>
                </a:solidFill>
                <a:latin typeface="Aptos"/>
              </a:rPr>
              <a:t>Evaluation measures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2606040"/>
            <a:ext cx="3977639" cy="22402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D2B36"/>
                </a:solidFill>
                <a:latin typeface="Aptos"/>
              </a:defRPr>
            </a:pPr>
            <a:r>
              <a:t>• Precision, recall, and mAP</a:t>
            </a:r>
          </a:p>
          <a:p>
            <a:pPr>
              <a:spcAft>
                <a:spcPts val="1000"/>
              </a:spcAft>
              <a:defRPr sz="1700">
                <a:solidFill>
                  <a:srgbClr val="1D2B36"/>
                </a:solidFill>
                <a:latin typeface="Aptos"/>
              </a:defRPr>
            </a:pPr>
            <a:r>
              <a:t>• Path-blocking accuracy</a:t>
            </a:r>
          </a:p>
          <a:p>
            <a:pPr>
              <a:spcAft>
                <a:spcPts val="1000"/>
              </a:spcAft>
              <a:defRPr sz="1700">
                <a:solidFill>
                  <a:srgbClr val="1D2B36"/>
                </a:solidFill>
                <a:latin typeface="Aptos"/>
              </a:defRPr>
            </a:pPr>
            <a:r>
              <a:t>• Distance-estimation error</a:t>
            </a:r>
          </a:p>
          <a:p>
            <a:pPr>
              <a:spcAft>
                <a:spcPts val="1000"/>
              </a:spcAft>
              <a:defRPr sz="1700">
                <a:solidFill>
                  <a:srgbClr val="1D2B36"/>
                </a:solidFill>
                <a:latin typeface="Aptos"/>
              </a:defRPr>
            </a:pPr>
            <a:r>
              <a:t>• False-alert and missed-hazard rate</a:t>
            </a:r>
          </a:p>
          <a:p>
            <a:pPr>
              <a:spcAft>
                <a:spcPts val="1000"/>
              </a:spcAft>
              <a:defRPr sz="1700">
                <a:solidFill>
                  <a:srgbClr val="1D2B36"/>
                </a:solidFill>
                <a:latin typeface="Aptos"/>
              </a:defRPr>
            </a:pPr>
            <a:r>
              <a:t>• Latency and frames per second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2A3F"/>
          </a:solidFill>
          <a:ln w="12700">
            <a:solidFill>
              <a:srgbClr val="142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29260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59791"/>
                </a:solidFill>
                <a:latin typeface="Aptos Mono"/>
              </a:rPr>
              <a:t>SAFESTRIDE ASSIST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47472"/>
            <a:ext cx="23317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>
                <a:solidFill>
                  <a:srgbClr val="5B6C77"/>
                </a:solidFill>
                <a:latin typeface="Aptos Mono"/>
              </a:rPr>
              <a:t>WHAT IS DIFFERENT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858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42A3F"/>
                </a:solidFill>
                <a:latin typeface="Aptos"/>
              </a:rPr>
              <a:t>Novelty and contribution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61872"/>
            <a:ext cx="10972800" cy="18288"/>
          </a:xfrm>
          <a:prstGeom prst="rect">
            <a:avLst/>
          </a:prstGeom>
          <a:solidFill>
            <a:srgbClr val="E2EAED"/>
          </a:solidFill>
          <a:ln w="12700">
            <a:solidFill>
              <a:srgbClr val="E2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61320" y="6473952"/>
            <a:ext cx="96012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B6C77"/>
                </a:solidFill>
                <a:latin typeface="Aptos Mono"/>
              </a:rPr>
              <a:t>B15  | 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600200"/>
            <a:ext cx="548640" cy="384048"/>
          </a:xfrm>
          <a:prstGeom prst="roundRect">
            <a:avLst>
              <a:gd name="adj" fmla="val 6000"/>
            </a:avLst>
          </a:prstGeom>
          <a:solidFill>
            <a:srgbClr val="259791"/>
          </a:solidFill>
          <a:ln w="12700">
            <a:solidFill>
              <a:srgbClr val="25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91640"/>
            <a:ext cx="5486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 Mon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591056"/>
            <a:ext cx="3291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42A3F"/>
                </a:solidFill>
                <a:latin typeface="Aptos"/>
              </a:rPr>
              <a:t>Path-aware perception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6360" y="1600200"/>
            <a:ext cx="58064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>
                <a:solidFill>
                  <a:srgbClr val="5B6C77"/>
                </a:solidFill>
                <a:latin typeface="Aptos"/>
              </a:rPr>
              <a:t>Moves beyond object labels by deciding whether the forward walking corridor is blocked.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91640" y="2167128"/>
            <a:ext cx="9281160" cy="18288"/>
          </a:xfrm>
          <a:prstGeom prst="rect">
            <a:avLst/>
          </a:prstGeom>
          <a:solidFill>
            <a:srgbClr val="E2EAED"/>
          </a:solidFill>
          <a:ln w="12700">
            <a:solidFill>
              <a:srgbClr val="E2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" y="2651760"/>
            <a:ext cx="548640" cy="384048"/>
          </a:xfrm>
          <a:prstGeom prst="roundRect">
            <a:avLst>
              <a:gd name="adj" fmla="val 6000"/>
            </a:avLst>
          </a:prstGeom>
          <a:solidFill>
            <a:srgbClr val="27699A"/>
          </a:solidFill>
          <a:ln w="12700">
            <a:solidFill>
              <a:srgbClr val="276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743200"/>
            <a:ext cx="5486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 Mono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2642616"/>
            <a:ext cx="3291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42A3F"/>
                </a:solidFill>
                <a:latin typeface="Aptos"/>
              </a:rPr>
              <a:t>Known and unknown hazards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2651760"/>
            <a:ext cx="58064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>
                <a:solidFill>
                  <a:srgbClr val="5B6C77"/>
                </a:solidFill>
                <a:latin typeface="Aptos"/>
              </a:rPr>
              <a:t>Combines detector outputs with depth geometry to identify unlabelled blockers.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91640" y="3218688"/>
            <a:ext cx="9281160" cy="18288"/>
          </a:xfrm>
          <a:prstGeom prst="rect">
            <a:avLst/>
          </a:prstGeom>
          <a:solidFill>
            <a:srgbClr val="E2EAED"/>
          </a:solidFill>
          <a:ln w="12700">
            <a:solidFill>
              <a:srgbClr val="E2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68680" y="3703320"/>
            <a:ext cx="548640" cy="384048"/>
          </a:xfrm>
          <a:prstGeom prst="roundRect">
            <a:avLst>
              <a:gd name="adj" fmla="val 6000"/>
            </a:avLst>
          </a:prstGeom>
          <a:solidFill>
            <a:srgbClr val="259791"/>
          </a:solidFill>
          <a:ln w="12700">
            <a:solidFill>
              <a:srgbClr val="25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794759"/>
            <a:ext cx="5486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 Mono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3694176"/>
            <a:ext cx="3291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42A3F"/>
                </a:solidFill>
                <a:latin typeface="Aptos"/>
              </a:rPr>
              <a:t>Actionable distance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3703320"/>
            <a:ext cx="58064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>
                <a:solidFill>
                  <a:srgbClr val="5B6C77"/>
                </a:solidFill>
                <a:latin typeface="Aptos"/>
              </a:rPr>
              <a:t>Turns approximate monocular depth into distance, direction, and side guidance.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91640" y="4270248"/>
            <a:ext cx="9281160" cy="18288"/>
          </a:xfrm>
          <a:prstGeom prst="rect">
            <a:avLst/>
          </a:prstGeom>
          <a:solidFill>
            <a:srgbClr val="E2EAED"/>
          </a:solidFill>
          <a:ln w="12700">
            <a:solidFill>
              <a:srgbClr val="E2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8680" y="4754879"/>
            <a:ext cx="548640" cy="384048"/>
          </a:xfrm>
          <a:prstGeom prst="roundRect">
            <a:avLst>
              <a:gd name="adj" fmla="val 6000"/>
            </a:avLst>
          </a:prstGeom>
          <a:solidFill>
            <a:srgbClr val="27699A"/>
          </a:solidFill>
          <a:ln w="12700">
            <a:solidFill>
              <a:srgbClr val="276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846319"/>
            <a:ext cx="5486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 Mono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4745736"/>
            <a:ext cx="3291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42A3F"/>
                </a:solidFill>
                <a:latin typeface="Aptos"/>
              </a:rPr>
              <a:t>Safety-first speech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66360" y="4754879"/>
            <a:ext cx="58064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>
                <a:solidFill>
                  <a:srgbClr val="5B6C77"/>
                </a:solidFill>
                <a:latin typeface="Aptos"/>
              </a:rPr>
              <a:t>Uses persistence, time-to-collision, priority, and cooldowns to control announcements.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91640" y="5321807"/>
            <a:ext cx="9281160" cy="18288"/>
          </a:xfrm>
          <a:prstGeom prst="rect">
            <a:avLst/>
          </a:prstGeom>
          <a:solidFill>
            <a:srgbClr val="E2EAED"/>
          </a:solidFill>
          <a:ln w="12700">
            <a:solidFill>
              <a:srgbClr val="E2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2A3F"/>
          </a:solidFill>
          <a:ln w="12700">
            <a:solidFill>
              <a:srgbClr val="142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29260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59791"/>
                </a:solidFill>
                <a:latin typeface="Aptos Mono"/>
              </a:rPr>
              <a:t>SAFESTRIDE ASSIST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47472"/>
            <a:ext cx="23317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>
                <a:solidFill>
                  <a:srgbClr val="5B6C77"/>
                </a:solidFill>
                <a:latin typeface="Aptos Mono"/>
              </a:rPr>
              <a:t>RESPONSIBLE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858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42A3F"/>
                </a:solidFill>
                <a:latin typeface="Aptos"/>
              </a:rPr>
              <a:t>Limitations and safety boundary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61872"/>
            <a:ext cx="10972800" cy="18288"/>
          </a:xfrm>
          <a:prstGeom prst="rect">
            <a:avLst/>
          </a:prstGeom>
          <a:solidFill>
            <a:srgbClr val="E2EAED"/>
          </a:solidFill>
          <a:ln w="12700">
            <a:solidFill>
              <a:srgbClr val="E2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61320" y="6473952"/>
            <a:ext cx="96012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B6C77"/>
                </a:solidFill>
                <a:latin typeface="Aptos Mono"/>
              </a:rPr>
              <a:t>B15  | 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00200"/>
            <a:ext cx="5166360" cy="4343400"/>
          </a:xfrm>
          <a:prstGeom prst="roundRect">
            <a:avLst>
              <a:gd name="adj" fmla="val 6000"/>
            </a:avLst>
          </a:prstGeom>
          <a:solidFill>
            <a:srgbClr val="FEF5F2"/>
          </a:solidFill>
          <a:ln w="12700">
            <a:solidFill>
              <a:srgbClr val="F4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920240"/>
            <a:ext cx="3017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BE4343"/>
                </a:solidFill>
                <a:latin typeface="Aptos"/>
              </a:rPr>
              <a:t>Known limitations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606040"/>
            <a:ext cx="4297680" cy="20574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D2B36"/>
                </a:solidFill>
                <a:latin typeface="Aptos"/>
              </a:defRPr>
            </a:pPr>
            <a:r>
              <a:t>• Monocular depth is approximate, not guaranteed metric distance.</a:t>
            </a:r>
          </a:p>
          <a:p>
            <a:pPr>
              <a:spcAft>
                <a:spcPts val="1200"/>
              </a:spcAft>
              <a:defRPr sz="1700">
                <a:solidFill>
                  <a:srgbClr val="1D2B36"/>
                </a:solidFill>
                <a:latin typeface="Aptos"/>
              </a:defRPr>
            </a:pPr>
            <a:r>
              <a:t>• Results depend on camera height, pitch, lighting, blur, reflections, crowds, and ground visibility.</a:t>
            </a:r>
          </a:p>
          <a:p>
            <a:pPr>
              <a:spcAft>
                <a:spcPts val="1200"/>
              </a:spcAft>
              <a:defRPr sz="1700">
                <a:solidFill>
                  <a:srgbClr val="1D2B36"/>
                </a:solidFill>
                <a:latin typeface="Aptos"/>
              </a:defRPr>
            </a:pPr>
            <a:r>
              <a:t>• Speech behaviour depends on browser and operating-system audio support.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600200"/>
            <a:ext cx="4983480" cy="4343400"/>
          </a:xfrm>
          <a:prstGeom prst="roundRect">
            <a:avLst>
              <a:gd name="adj" fmla="val 6000"/>
            </a:avLst>
          </a:prstGeom>
          <a:solidFill>
            <a:srgbClr val="EDF7F8"/>
          </a:solidFill>
          <a:ln w="12700">
            <a:solidFill>
              <a:srgbClr val="B4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1920240"/>
            <a:ext cx="3017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259791"/>
                </a:solidFill>
                <a:latin typeface="Aptos"/>
              </a:rPr>
              <a:t>Safety 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2606040"/>
            <a:ext cx="4023360" cy="20574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D2B36"/>
                </a:solidFill>
                <a:latin typeface="Aptos"/>
              </a:defRPr>
            </a:pPr>
            <a:r>
              <a:t>• Educational research prototype only.</a:t>
            </a:r>
          </a:p>
          <a:p>
            <a:pPr>
              <a:spcAft>
                <a:spcPts val="1200"/>
              </a:spcAft>
              <a:defRPr sz="1700">
                <a:solidFill>
                  <a:srgbClr val="1D2B36"/>
                </a:solidFill>
                <a:latin typeface="Aptos"/>
              </a:defRPr>
            </a:pPr>
            <a:r>
              <a:t>• Not a certified mobility aid, medical device, or emergency system.</a:t>
            </a:r>
          </a:p>
          <a:p>
            <a:pPr>
              <a:spcAft>
                <a:spcPts val="1200"/>
              </a:spcAft>
              <a:defRPr sz="1700">
                <a:solidFill>
                  <a:srgbClr val="1D2B36"/>
                </a:solidFill>
                <a:latin typeface="Aptos"/>
              </a:defRPr>
            </a:pPr>
            <a:r>
              <a:t>• Must not replace a white cane, guide dog, or human assistance.</a:t>
            </a:r>
          </a:p>
          <a:p>
            <a:pPr>
              <a:spcAft>
                <a:spcPts val="1200"/>
              </a:spcAft>
              <a:defRPr sz="1700">
                <a:solidFill>
                  <a:srgbClr val="1D2B36"/>
                </a:solidFill>
                <a:latin typeface="Aptos"/>
              </a:defRPr>
            </a:pPr>
            <a:r>
              <a:t>• Testing requires supervision and conventional mobility safety methods.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2A3F"/>
          </a:solidFill>
          <a:ln w="12700">
            <a:solidFill>
              <a:srgbClr val="142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29260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59791"/>
                </a:solidFill>
                <a:latin typeface="Aptos Mono"/>
              </a:rPr>
              <a:t>SAFESTRIDE ASSIST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47472"/>
            <a:ext cx="23317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>
                <a:solidFill>
                  <a:srgbClr val="5B6C77"/>
                </a:solidFill>
                <a:latin typeface="Aptos Mono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858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42A3F"/>
                </a:solidFill>
                <a:latin typeface="Aptos"/>
              </a:rPr>
              <a:t>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61872"/>
            <a:ext cx="10972800" cy="18288"/>
          </a:xfrm>
          <a:prstGeom prst="rect">
            <a:avLst/>
          </a:prstGeom>
          <a:solidFill>
            <a:srgbClr val="E2EAED"/>
          </a:solidFill>
          <a:ln w="12700">
            <a:solidFill>
              <a:srgbClr val="E2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61320" y="6473952"/>
            <a:ext cx="96012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B6C77"/>
                </a:solidFill>
                <a:latin typeface="Aptos Mono"/>
              </a:rPr>
              <a:t>B15  | 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103327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800" b="1">
                <a:solidFill>
                  <a:srgbClr val="142A3F"/>
                </a:solidFill>
                <a:latin typeface="Aptos"/>
              </a:rPr>
              <a:t>SafeStride Assist demonstrates how perception can become guidance when placed in context.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743200"/>
            <a:ext cx="2240280" cy="1463040"/>
          </a:xfrm>
          <a:prstGeom prst="roundRect">
            <a:avLst>
              <a:gd name="adj" fmla="val 6000"/>
            </a:avLst>
          </a:prstGeom>
          <a:solidFill>
            <a:srgbClr val="EBF3FA"/>
          </a:solidFill>
          <a:ln w="12700">
            <a:solidFill>
              <a:srgbClr val="276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39" y="3090672"/>
            <a:ext cx="1965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27699A"/>
                </a:solidFill>
                <a:latin typeface="Aptos"/>
              </a:rPr>
              <a:t>SEE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3657600"/>
            <a:ext cx="1920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5B6C77"/>
                </a:solidFill>
                <a:latin typeface="Aptos"/>
              </a:rPr>
              <a:t>detect and track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54680" y="3474720"/>
            <a:ext cx="320040" cy="0"/>
          </a:xfrm>
          <a:prstGeom prst="line">
            <a:avLst/>
          </a:prstGeom>
          <a:ln w="25400">
            <a:solidFill>
              <a:srgbClr val="142A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657600" y="2743200"/>
            <a:ext cx="2240280" cy="1463040"/>
          </a:xfrm>
          <a:prstGeom prst="roundRect">
            <a:avLst>
              <a:gd name="adj" fmla="val 6000"/>
            </a:avLst>
          </a:prstGeom>
          <a:solidFill>
            <a:srgbClr val="EDF7F8"/>
          </a:solidFill>
          <a:ln w="12700">
            <a:solidFill>
              <a:srgbClr val="25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94760" y="3090672"/>
            <a:ext cx="1965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259791"/>
                </a:solidFill>
                <a:latin typeface="Aptos"/>
              </a:rPr>
              <a:t>MEASURE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22191" y="3657600"/>
            <a:ext cx="1920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5B6C77"/>
                </a:solidFill>
                <a:latin typeface="Aptos"/>
              </a:rPr>
              <a:t>estimate depth and distance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43600" y="3474720"/>
            <a:ext cx="320040" cy="0"/>
          </a:xfrm>
          <a:prstGeom prst="line">
            <a:avLst/>
          </a:prstGeom>
          <a:ln w="25400">
            <a:solidFill>
              <a:srgbClr val="142A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446520" y="2743200"/>
            <a:ext cx="2240280" cy="1463040"/>
          </a:xfrm>
          <a:prstGeom prst="roundRect">
            <a:avLst>
              <a:gd name="adj" fmla="val 6000"/>
            </a:avLst>
          </a:prstGeom>
          <a:solidFill>
            <a:srgbClr val="EBF3FA"/>
          </a:solidFill>
          <a:ln w="12700">
            <a:solidFill>
              <a:srgbClr val="E08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3090672"/>
            <a:ext cx="1965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E08739"/>
                </a:solidFill>
                <a:latin typeface="Aptos"/>
              </a:rPr>
              <a:t>DECIDE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1112" y="3657600"/>
            <a:ext cx="1920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5B6C77"/>
                </a:solidFill>
                <a:latin typeface="Aptos"/>
              </a:rPr>
              <a:t>evaluate path and urgency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732520" y="3474720"/>
            <a:ext cx="320040" cy="0"/>
          </a:xfrm>
          <a:prstGeom prst="line">
            <a:avLst/>
          </a:prstGeom>
          <a:ln w="25400">
            <a:solidFill>
              <a:srgbClr val="142A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235439" y="2743200"/>
            <a:ext cx="2240280" cy="1463040"/>
          </a:xfrm>
          <a:prstGeom prst="roundRect">
            <a:avLst>
              <a:gd name="adj" fmla="val 6000"/>
            </a:avLst>
          </a:prstGeom>
          <a:solidFill>
            <a:srgbClr val="EDF7F8"/>
          </a:solidFill>
          <a:ln w="12700">
            <a:solidFill>
              <a:srgbClr val="BE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599" y="3090672"/>
            <a:ext cx="1965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BE4343"/>
                </a:solidFill>
                <a:latin typeface="Aptos"/>
              </a:rPr>
              <a:t>SPEAK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0031" y="3657600"/>
            <a:ext cx="1920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5B6C77"/>
                </a:solidFill>
                <a:latin typeface="Aptos"/>
              </a:rPr>
              <a:t>give concise guidance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166360"/>
            <a:ext cx="9601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0">
                <a:solidFill>
                  <a:srgbClr val="5B6C77"/>
                </a:solidFill>
                <a:latin typeface="Aptos"/>
              </a:rPr>
              <a:t>The project provides a modular foundation for future evaluation, calibration, custom hazard models, and accessible navigation research.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2A3F"/>
          </a:solidFill>
          <a:ln w="12700">
            <a:solidFill>
              <a:srgbClr val="142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29260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59791"/>
                </a:solidFill>
                <a:latin typeface="Aptos Mono"/>
              </a:rPr>
              <a:t>SAFESTRIDE ASSIST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47472"/>
            <a:ext cx="23317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>
                <a:solidFill>
                  <a:srgbClr val="5B6C77"/>
                </a:solidFill>
                <a:latin typeface="Aptos Mono"/>
              </a:rPr>
              <a:t>SELECTED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858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42A3F"/>
                </a:solidFill>
                <a:latin typeface="Aptos"/>
              </a:rPr>
              <a:t>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61872"/>
            <a:ext cx="10972800" cy="18288"/>
          </a:xfrm>
          <a:prstGeom prst="rect">
            <a:avLst/>
          </a:prstGeom>
          <a:solidFill>
            <a:srgbClr val="E2EAED"/>
          </a:solidFill>
          <a:ln w="12700">
            <a:solidFill>
              <a:srgbClr val="E2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61320" y="6473952"/>
            <a:ext cx="96012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B6C77"/>
                </a:solidFill>
                <a:latin typeface="Aptos Mono"/>
              </a:rPr>
              <a:t>B15  | 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554480"/>
            <a:ext cx="507492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D2B36"/>
                </a:solidFill>
                <a:latin typeface="Aptos"/>
              </a:rPr>
              <a:t>[1] Redmon et al., You Only Look Once, CVPR, 2016.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507492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D2B36"/>
                </a:solidFill>
                <a:latin typeface="Aptos"/>
              </a:rPr>
              <a:t>[2] Zhang et al., ByteTrack, ECCV, 2022.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06624"/>
            <a:ext cx="507492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D2B36"/>
                </a:solidFill>
                <a:latin typeface="Aptos"/>
              </a:rPr>
              <a:t>[3] Yang et al., Depth Anything V2, NeurIPS, 2024.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82696"/>
            <a:ext cx="507492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D2B36"/>
                </a:solidFill>
                <a:latin typeface="Aptos"/>
              </a:rPr>
              <a:t>[4] Ranftl et al., Vision Transformers for Dense Prediction, ICCV, 2021.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58768"/>
            <a:ext cx="507492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D2B36"/>
                </a:solidFill>
                <a:latin typeface="Aptos"/>
              </a:rPr>
              <a:t>[5] Ultralytics, Ultralytics YOLO Documentation.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434840"/>
            <a:ext cx="507492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D2B36"/>
                </a:solidFill>
                <a:latin typeface="Aptos"/>
              </a:rPr>
              <a:t>[6] World Health Organization, World Report on Vision, 2019.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010912"/>
            <a:ext cx="507492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D2B36"/>
                </a:solidFill>
                <a:latin typeface="Aptos"/>
              </a:rPr>
              <a:t>[7] Khan et al., Navigation Assistants Systematic Review, IEEE Access, 2021.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554480"/>
            <a:ext cx="507492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D2B36"/>
                </a:solidFill>
                <a:latin typeface="Aptos"/>
              </a:rPr>
              <a:t>[8] Xu et al., Wearable Obstacle Avoidance Travel Aids, IEEE Access, 2023.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130552"/>
            <a:ext cx="507492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D2B36"/>
                </a:solidFill>
                <a:latin typeface="Aptos"/>
              </a:rPr>
              <a:t>[9] Katzschmann et al., Safe Local Navigation with ToF and Haptic Feedback, IEEE TNSRE, 2018.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706624"/>
            <a:ext cx="507492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D2B36"/>
                </a:solidFill>
                <a:latin typeface="Aptos"/>
              </a:rPr>
              <a:t>[10] Eltaher et al., Urban Navigation Systems Review, Sensors, 2021.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282696"/>
            <a:ext cx="507492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D2B36"/>
                </a:solidFill>
                <a:latin typeface="Aptos"/>
              </a:rPr>
              <a:t>[11] Johannesson et al., The Sound of Vision, Brain Sciences, 2016.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858768"/>
            <a:ext cx="507492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D2B36"/>
                </a:solidFill>
                <a:latin typeface="Aptos"/>
              </a:rPr>
              <a:t>[12] Shull and Damian, Haptic Wearables Review, JNER, 2015.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434840"/>
            <a:ext cx="507492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D2B36"/>
                </a:solidFill>
                <a:latin typeface="Aptos"/>
              </a:rPr>
              <a:t>[13] Ranganeni et al., Levels of Control for Blind Travelers, HRI, 2023.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5010912"/>
            <a:ext cx="507492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D2B36"/>
                </a:solidFill>
                <a:latin typeface="Aptos"/>
              </a:rPr>
              <a:t>[14] Zhang et al., ARCore User-Centric Assistive Navigation, Applied Sciences, 2019.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961888"/>
            <a:ext cx="103327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5B6C77"/>
                </a:solidFill>
                <a:latin typeface="Aptos"/>
              </a:rPr>
              <a:t>Full DOI links and formatted entries are retained in the written synopsis.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