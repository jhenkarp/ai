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411480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B8E769"/>
                </a:solidFill>
                <a:latin typeface="Aptos Mono"/>
              </a:rPr>
              <a:t>SAFESTRIDE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417320"/>
            <a:ext cx="7498079" cy="1417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4200" b="1">
                <a:solidFill>
                  <a:srgbClr val="EFF3F5"/>
                </a:solidFill>
                <a:latin typeface="Aptos"/>
              </a:rPr>
              <a:t>Assistive vision
and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154680"/>
            <a:ext cx="6949440" cy="6858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000" b="0">
                <a:solidFill>
                  <a:srgbClr val="A0AEB5"/>
                </a:solidFill>
                <a:latin typeface="Aptos"/>
              </a:rPr>
              <a:t>A real-time research prototype for distance-aware obstacle guidance, GPS routing, and voice feedback.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051560"/>
            <a:ext cx="3063240" cy="425196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463040"/>
            <a:ext cx="2377440" cy="7315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000" b="1">
                <a:solidFill>
                  <a:srgbClr val="65D4C4"/>
                </a:solidFill>
                <a:latin typeface="Aptos"/>
              </a:rPr>
              <a:t>LOCAL
PERCEPTION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738360" y="2395728"/>
            <a:ext cx="0" cy="512064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549640" y="3063240"/>
            <a:ext cx="2377440" cy="7315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000" b="1">
                <a:solidFill>
                  <a:srgbClr val="EFF3F5"/>
                </a:solidFill>
                <a:latin typeface="Aptos"/>
              </a:rPr>
              <a:t>DEPTH +
CORRIDOR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38360" y="3977639"/>
            <a:ext cx="0" cy="502921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549640" y="4617720"/>
            <a:ext cx="2377440" cy="7315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000" b="1">
                <a:solidFill>
                  <a:srgbClr val="B8E769"/>
                </a:solidFill>
                <a:latin typeface="Aptos"/>
              </a:rPr>
              <a:t>VOICE
GUIDANCE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989320"/>
            <a:ext cx="59436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A0AEB5"/>
                </a:solidFill>
                <a:latin typeface="Aptos"/>
              </a:rPr>
              <a:t>Major Project Synopsis +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5120640" cy="429768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18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389120" cy="5486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400" b="1">
                <a:solidFill>
                  <a:srgbClr val="B8E769"/>
                </a:solidFill>
                <a:latin typeface="Aptos"/>
              </a:rPr>
              <a:t>Object detection alone is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343400" cy="23774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A box does not say whether an object is in the walking path.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Users need distance, direction, urgency, and an actionable next step.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Repeated low-priority alerts can hide a genuinely urgent obstruction.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Route guidance and local safety perception must work together.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508760"/>
            <a:ext cx="5074920" cy="4297680"/>
          </a:xfrm>
          <a:prstGeom prst="roundRect">
            <a:avLst>
              <a:gd name="adj" fmla="val 8000"/>
            </a:avLst>
          </a:prstGeom>
          <a:solidFill>
            <a:srgbClr val="1E2B27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828800"/>
            <a:ext cx="438912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400" b="1">
                <a:solidFill>
                  <a:srgbClr val="65D4C4"/>
                </a:solidFill>
                <a:latin typeface="Aptos"/>
              </a:rPr>
              <a:t>SafeStride's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06040"/>
            <a:ext cx="429768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000" b="1">
                <a:solidFill>
                  <a:srgbClr val="EFF3F5"/>
                </a:solidFill>
                <a:latin typeface="Aptos"/>
              </a:rPr>
              <a:t>Perceive  -&gt;  reason  -&gt;  prioritise  -&gt;  speak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37560"/>
            <a:ext cx="411480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0">
                <a:solidFill>
                  <a:srgbClr val="A0AEB5"/>
                </a:solidFill>
                <a:latin typeface="Aptos"/>
              </a:rPr>
              <a:t>The prototype translates visual evidence into concise guidance such as: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4160520"/>
            <a:ext cx="4251960" cy="777240"/>
          </a:xfrm>
          <a:prstGeom prst="roundRect">
            <a:avLst>
              <a:gd name="adj" fmla="val 8000"/>
            </a:avLst>
          </a:prstGeom>
          <a:solidFill>
            <a:srgbClr val="0D151C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325112"/>
            <a:ext cx="3794760" cy="4572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000" b="1">
                <a:solidFill>
                  <a:srgbClr val="B8E769"/>
                </a:solidFill>
                <a:latin typeface="Aptos"/>
              </a:rPr>
              <a:t>Path blocked, 2 meters.
Keep left.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50292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400" b="1">
                <a:solidFill>
                  <a:srgbClr val="B8E769"/>
                </a:solidFill>
                <a:latin typeface="Apto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389888"/>
            <a:ext cx="1554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417320"/>
            <a:ext cx="8138160" cy="3474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A0AEB5"/>
                </a:solidFill>
                <a:latin typeface="Aptos"/>
              </a:rPr>
              <a:t>Detect navigation-relevant objects and unknown depth obstacles.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984248"/>
            <a:ext cx="10515600" cy="18288"/>
          </a:xfrm>
          <a:prstGeom prst="rect">
            <a:avLst/>
          </a:prstGeom>
          <a:solidFill>
            <a:srgbClr val="2F3F44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50292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400" b="1">
                <a:solidFill>
                  <a:srgbClr val="B8E769"/>
                </a:solidFill>
                <a:latin typeface="Apto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322576"/>
            <a:ext cx="1554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350008"/>
            <a:ext cx="8138160" cy="3474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A0AEB5"/>
                </a:solidFill>
                <a:latin typeface="Aptos"/>
              </a:rPr>
              <a:t>Estimate distance, clock direction, approach risk, and path position.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916936"/>
            <a:ext cx="10515600" cy="18288"/>
          </a:xfrm>
          <a:prstGeom prst="rect">
            <a:avLst/>
          </a:prstGeom>
          <a:solidFill>
            <a:srgbClr val="2F3F44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82696"/>
            <a:ext cx="50292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400" b="1">
                <a:solidFill>
                  <a:srgbClr val="B8E769"/>
                </a:solidFill>
                <a:latin typeface="Apto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55264"/>
            <a:ext cx="1554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282696"/>
            <a:ext cx="8138160" cy="3474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A0AEB5"/>
                </a:solidFill>
                <a:latin typeface="Aptos"/>
              </a:rPr>
              <a:t>Give complete voice instructions with left/right corrections.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849624"/>
            <a:ext cx="10515600" cy="18288"/>
          </a:xfrm>
          <a:prstGeom prst="rect">
            <a:avLst/>
          </a:prstGeom>
          <a:solidFill>
            <a:srgbClr val="2F3F44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15384"/>
            <a:ext cx="50292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400" b="1">
                <a:solidFill>
                  <a:srgbClr val="B8E769"/>
                </a:solidFill>
                <a:latin typeface="Aptos Mono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87952"/>
            <a:ext cx="1554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Navigate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215384"/>
            <a:ext cx="8138160" cy="3474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A0AEB5"/>
                </a:solidFill>
                <a:latin typeface="Aptos"/>
              </a:rPr>
              <a:t>Combine GPS walking routes with local camera safety.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782312"/>
            <a:ext cx="10515600" cy="18288"/>
          </a:xfrm>
          <a:prstGeom prst="rect">
            <a:avLst/>
          </a:prstGeom>
          <a:solidFill>
            <a:srgbClr val="2F3F44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148072"/>
            <a:ext cx="50292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400" b="1">
                <a:solidFill>
                  <a:srgbClr val="B8E769"/>
                </a:solidFill>
                <a:latin typeface="Aptos Mon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120640"/>
            <a:ext cx="15544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Respect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148072"/>
            <a:ext cx="8138160" cy="34747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A0AEB5"/>
                </a:solidFill>
                <a:latin typeface="Aptos"/>
              </a:rPr>
              <a:t>Keep processing local and expose clear prototype limitations.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5715000"/>
            <a:ext cx="10515600" cy="18288"/>
          </a:xfrm>
          <a:prstGeom prst="rect">
            <a:avLst/>
          </a:prstGeom>
          <a:solidFill>
            <a:srgbClr val="2F3F44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ONE PIPELINE, TWO GUIDANCE SCALES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057400"/>
            <a:ext cx="1609344" cy="4572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600" b="1">
                <a:solidFill>
                  <a:srgbClr val="EFF3F5"/>
                </a:solidFill>
                <a:latin typeface="Aptos"/>
              </a:rPr>
              <a:t>IP camera / video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8288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0088" y="2057400"/>
            <a:ext cx="1609344" cy="4572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600" b="1">
                <a:solidFill>
                  <a:srgbClr val="EFF3F5"/>
                </a:solidFill>
                <a:latin typeface="Aptos"/>
              </a:rPr>
              <a:t>YOLO + ByteTrack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8288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F2B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4648" y="2057400"/>
            <a:ext cx="1609344" cy="4572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600" b="1">
                <a:solidFill>
                  <a:srgbClr val="EFF3F5"/>
                </a:solidFill>
                <a:latin typeface="Aptos"/>
              </a:rPr>
              <a:t>Depth Anything V2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8288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FF7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9208" y="2057400"/>
            <a:ext cx="1609344" cy="4572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600" b="1">
                <a:solidFill>
                  <a:srgbClr val="EFF3F5"/>
                </a:solidFill>
                <a:latin typeface="Aptos"/>
              </a:rPr>
              <a:t>3D corridor
reasoning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64040" y="18288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3767" y="2057400"/>
            <a:ext cx="1609344" cy="4572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600" b="1">
                <a:solidFill>
                  <a:srgbClr val="EFF3F5"/>
                </a:solidFill>
                <a:latin typeface="Aptos"/>
              </a:rPr>
              <a:t>Alert + route
state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14600" y="2286000"/>
            <a:ext cx="365760" cy="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09160" y="2286000"/>
            <a:ext cx="365760" cy="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03720" y="2286000"/>
            <a:ext cx="365760" cy="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98280" y="2286000"/>
            <a:ext cx="365760" cy="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4400" y="3749039"/>
            <a:ext cx="4937760" cy="1234440"/>
          </a:xfrm>
          <a:prstGeom prst="roundRect">
            <a:avLst>
              <a:gd name="adj" fmla="val 8000"/>
            </a:avLst>
          </a:prstGeom>
          <a:solidFill>
            <a:srgbClr val="1E2B27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005072"/>
            <a:ext cx="164592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00" b="1">
                <a:solidFill>
                  <a:srgbClr val="B8E769"/>
                </a:solidFill>
                <a:latin typeface="Aptos Mono"/>
              </a:rPr>
              <a:t>LOCAL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70832"/>
            <a:ext cx="41148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EFF3F5"/>
                </a:solidFill>
                <a:latin typeface="Aptos"/>
              </a:rPr>
              <a:t>Immediate obstruction, distance, side correction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749039"/>
            <a:ext cx="4937760" cy="1234440"/>
          </a:xfrm>
          <a:prstGeom prst="roundRect">
            <a:avLst>
              <a:gd name="adj" fmla="val 8000"/>
            </a:avLst>
          </a:prstGeom>
          <a:solidFill>
            <a:srgbClr val="1E2730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05072"/>
            <a:ext cx="164592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00" b="1">
                <a:solidFill>
                  <a:srgbClr val="65D4C4"/>
                </a:solidFill>
                <a:latin typeface="Aptos Mono"/>
              </a:rPr>
              <a:t>MACRO ROUTE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70832"/>
            <a:ext cx="41148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EFF3F5"/>
                </a:solidFill>
                <a:latin typeface="Aptos"/>
              </a:rPr>
              <a:t>GPS position, turns, deviation, arrival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669280"/>
            <a:ext cx="7498079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600" b="1">
                <a:solidFill>
                  <a:srgbClr val="F2BB62"/>
                </a:solidFill>
                <a:latin typeface="Aptos"/>
              </a:rPr>
              <a:t>Urgent camera safety always wins over routine route speech.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HOW THE SYSTEM UNDERSTANDS A 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Perception and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1874519" cy="265176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20240"/>
            <a:ext cx="36576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B8E769"/>
                </a:solidFill>
                <a:latin typeface="Apto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68880"/>
            <a:ext cx="146304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154680"/>
            <a:ext cx="1463040" cy="7772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A0AEB5"/>
                </a:solidFill>
                <a:latin typeface="Aptos"/>
              </a:rPr>
              <a:t>YOLO finds relevant objects.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7752" y="2971800"/>
            <a:ext cx="292608" cy="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53512" y="1645920"/>
            <a:ext cx="1874519" cy="265176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920240"/>
            <a:ext cx="36576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B8E769"/>
                </a:solidFill>
                <a:latin typeface="Aptos Mon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468880"/>
            <a:ext cx="146304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Track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154680"/>
            <a:ext cx="1463040" cy="7772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A0AEB5"/>
                </a:solidFill>
                <a:latin typeface="Aptos"/>
              </a:rPr>
              <a:t>ByteTrack keeps identity over time.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55464" y="2971800"/>
            <a:ext cx="292608" cy="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21224" y="1645920"/>
            <a:ext cx="1874519" cy="265176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F2B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22392" y="1920240"/>
            <a:ext cx="36576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B8E769"/>
                </a:solidFill>
                <a:latin typeface="Aptos Mon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2392" y="2468880"/>
            <a:ext cx="146304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Estimate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3154680"/>
            <a:ext cx="1463040" cy="7772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A0AEB5"/>
                </a:solidFill>
                <a:latin typeface="Aptos"/>
              </a:rPr>
              <a:t>Depth Anything V2 gives relative depth.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23176" y="2971800"/>
            <a:ext cx="292607" cy="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88936" y="1645920"/>
            <a:ext cx="1874519" cy="265176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FF7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0104" y="1920240"/>
            <a:ext cx="36576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B8E769"/>
                </a:solidFill>
                <a:latin typeface="Aptos Mon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0104" y="2468880"/>
            <a:ext cx="146304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Calibrate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90104" y="3154680"/>
            <a:ext cx="1463040" cy="7772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A0AEB5"/>
                </a:solidFill>
                <a:latin typeface="Aptos"/>
              </a:rPr>
              <a:t>Ground plane converts depth to approximate metres.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0888" y="2971800"/>
            <a:ext cx="292608" cy="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756648" y="1645920"/>
            <a:ext cx="1874519" cy="265176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57816" y="1920240"/>
            <a:ext cx="36576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B8E769"/>
                </a:solidFill>
                <a:latin typeface="Aptos Mon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57816" y="2468880"/>
            <a:ext cx="146304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100" b="1">
                <a:solidFill>
                  <a:srgbClr val="EFF3F5"/>
                </a:solidFill>
                <a:latin typeface="Aptos"/>
              </a:rPr>
              <a:t>Decide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7816" y="3154680"/>
            <a:ext cx="1463040" cy="7772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A0AEB5"/>
                </a:solidFill>
                <a:latin typeface="Aptos"/>
              </a:rPr>
              <a:t>A 1 m wide corridor is checked up to 3 m ahead.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498348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2F2323"/>
          </a:solidFill>
          <a:ln>
            <a:solidFill>
              <a:srgbClr val="FF7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80467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800" b="1">
                <a:solidFill>
                  <a:srgbClr val="EFF3F5"/>
                </a:solidFill>
                <a:latin typeface="Aptos"/>
              </a:rPr>
              <a:t>PATH BLOCKED  -&gt;  find nearest point  -&gt;  choose clear side  -&gt;  speak distance + action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TURNING EVIDENCE INTO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Safety-first alerting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18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292608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400" b="1">
                <a:solidFill>
                  <a:srgbClr val="B8E769"/>
                </a:solidFill>
                <a:latin typeface="Aptos"/>
              </a:rPr>
              <a:t>Priority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06040"/>
            <a:ext cx="2743200" cy="420624"/>
          </a:xfrm>
          <a:prstGeom prst="roundRect">
            <a:avLst>
              <a:gd name="adj" fmla="val 8000"/>
            </a:avLst>
          </a:prstGeom>
          <a:solidFill>
            <a:srgbClr val="FF7272"/>
          </a:solidFill>
          <a:ln>
            <a:solidFill>
              <a:srgbClr val="FF7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97480"/>
            <a:ext cx="27432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Urgent obstruction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264408"/>
            <a:ext cx="2743200" cy="420624"/>
          </a:xfrm>
          <a:prstGeom prst="roundRect">
            <a:avLst>
              <a:gd name="adj" fmla="val 8000"/>
            </a:avLst>
          </a:prstGeom>
          <a:solidFill>
            <a:srgbClr val="F2BB62"/>
          </a:solidFill>
          <a:ln>
            <a:solidFill>
              <a:srgbClr val="F2B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27432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Local correction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922776"/>
            <a:ext cx="2743200" cy="420624"/>
          </a:xfrm>
          <a:prstGeom prst="roundRect">
            <a:avLst>
              <a:gd name="adj" fmla="val 8000"/>
            </a:avLst>
          </a:prstGeom>
          <a:solidFill>
            <a:srgbClr val="65D4C4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14215"/>
            <a:ext cx="27432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Route instruction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581144"/>
            <a:ext cx="2743200" cy="420624"/>
          </a:xfrm>
          <a:prstGeom prst="roundRect">
            <a:avLst>
              <a:gd name="adj" fmla="val 8000"/>
            </a:avLst>
          </a:prstGeom>
          <a:solidFill>
            <a:srgbClr val="A0AEB5"/>
          </a:solidFill>
          <a:ln>
            <a:solidFill>
              <a:srgbClr val="A0A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72583"/>
            <a:ext cx="27432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Background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1508760"/>
            <a:ext cx="6537960" cy="4297680"/>
          </a:xfrm>
          <a:prstGeom prst="roundRect">
            <a:avLst>
              <a:gd name="adj" fmla="val 8000"/>
            </a:avLst>
          </a:prstGeom>
          <a:solidFill>
            <a:srgbClr val="1E2B27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1828800"/>
            <a:ext cx="310896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400" b="1">
                <a:solidFill>
                  <a:srgbClr val="65D4C4"/>
                </a:solidFill>
                <a:latin typeface="Aptos"/>
              </a:rPr>
              <a:t>Example interaction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651760"/>
            <a:ext cx="530352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800" b="0">
                <a:solidFill>
                  <a:srgbClr val="EFF3F5"/>
                </a:solidFill>
                <a:latin typeface="Aptos"/>
              </a:rPr>
              <a:t>Camera sees an obstacle in the corridor.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55279" y="3154680"/>
            <a:ext cx="0" cy="41148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303520" y="3657600"/>
            <a:ext cx="5303520" cy="5943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800" b="0">
                <a:solidFill>
                  <a:srgbClr val="EFF3F5"/>
                </a:solidFill>
                <a:latin typeface="Aptos"/>
              </a:rPr>
              <a:t>Depth estimates 2 m;
spatial analysis finds left escape.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55279" y="4434840"/>
            <a:ext cx="0" cy="365760"/>
          </a:xfrm>
          <a:prstGeom prst="line">
            <a:avLst/>
          </a:prstGeom>
          <a:ln w="25400">
            <a:solidFill>
              <a:srgbClr val="B8E7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303520" y="4892040"/>
            <a:ext cx="5303520" cy="594360"/>
          </a:xfrm>
          <a:prstGeom prst="roundRect">
            <a:avLst>
              <a:gd name="adj" fmla="val 8000"/>
            </a:avLst>
          </a:prstGeom>
          <a:solidFill>
            <a:srgbClr val="0D151C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5074920"/>
            <a:ext cx="493776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700" b="1">
                <a:solidFill>
                  <a:srgbClr val="B8E769"/>
                </a:solidFill>
                <a:latin typeface="Aptos"/>
              </a:rPr>
              <a:t>Stop. Path blocked, 2 meters. Keep left.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FROM LOCATION TO ROUTE-AWARE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Navigation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21992"/>
            <a:ext cx="155448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700" b="1">
                <a:solidFill>
                  <a:srgbClr val="EFF3F5"/>
                </a:solidFill>
                <a:latin typeface="Aptos"/>
              </a:rPr>
              <a:t>Browser GPS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87752" y="2450592"/>
            <a:ext cx="338328" cy="0"/>
          </a:xfrm>
          <a:prstGeom prst="line">
            <a:avLst/>
          </a:prstGeom>
          <a:ln w="25400">
            <a:solidFill>
              <a:srgbClr val="65D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017520" y="196596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27248" y="2221992"/>
            <a:ext cx="155448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700" b="1">
                <a:solidFill>
                  <a:srgbClr val="EFF3F5"/>
                </a:solidFill>
                <a:latin typeface="Aptos"/>
              </a:rPr>
              <a:t>Geocode
destination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28032" y="2450592"/>
            <a:ext cx="338328" cy="0"/>
          </a:xfrm>
          <a:prstGeom prst="line">
            <a:avLst/>
          </a:prstGeom>
          <a:ln w="25400">
            <a:solidFill>
              <a:srgbClr val="65D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57800" y="196596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67528" y="2221992"/>
            <a:ext cx="155448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700" b="1">
                <a:solidFill>
                  <a:srgbClr val="EFF3F5"/>
                </a:solidFill>
                <a:latin typeface="Aptos"/>
              </a:rPr>
              <a:t>Walking 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68312" y="2450592"/>
            <a:ext cx="338328" cy="0"/>
          </a:xfrm>
          <a:prstGeom prst="line">
            <a:avLst/>
          </a:prstGeom>
          <a:ln w="25400">
            <a:solidFill>
              <a:srgbClr val="65D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80" y="196596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F2B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07808" y="2221992"/>
            <a:ext cx="155448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700" b="1">
                <a:solidFill>
                  <a:srgbClr val="EFF3F5"/>
                </a:solidFill>
                <a:latin typeface="Aptos"/>
              </a:rPr>
              <a:t>Turn state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08592" y="2450592"/>
            <a:ext cx="338328" cy="0"/>
          </a:xfrm>
          <a:prstGeom prst="line">
            <a:avLst/>
          </a:prstGeom>
          <a:ln w="25400">
            <a:solidFill>
              <a:srgbClr val="65D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738360" y="196596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48088" y="2221992"/>
            <a:ext cx="155448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700" b="1">
                <a:solidFill>
                  <a:srgbClr val="EFF3F5"/>
                </a:solidFill>
                <a:latin typeface="Aptos"/>
              </a:rPr>
              <a:t>Voice prompt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886200"/>
            <a:ext cx="9784080" cy="1051560"/>
          </a:xfrm>
          <a:prstGeom prst="roundRect">
            <a:avLst>
              <a:gd name="adj" fmla="val 8000"/>
            </a:avLst>
          </a:prstGeom>
          <a:solidFill>
            <a:srgbClr val="1E2730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4160520"/>
            <a:ext cx="22860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000" b="1">
                <a:solidFill>
                  <a:srgbClr val="65D4C4"/>
                </a:solidFill>
                <a:latin typeface="Aptos"/>
              </a:rPr>
              <a:t>NavigationManager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160520"/>
            <a:ext cx="66751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0">
                <a:solidFill>
                  <a:srgbClr val="EFF3F5"/>
                </a:solidFill>
                <a:latin typeface="Aptos"/>
              </a:rPr>
              <a:t>route geometry  /  turn instructions  /  off-route detection  /  arrival  /  repeated prompts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532120"/>
            <a:ext cx="841248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600" b="1">
                <a:solidFill>
                  <a:srgbClr val="F2BB62"/>
                </a:solidFill>
                <a:latin typeface="Aptos"/>
              </a:rPr>
              <a:t>Route speech is paused briefly when a camera obstruction alert is active.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A PRACTICAL DEMONSTRATION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Live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6766560" cy="452628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783080"/>
            <a:ext cx="6217920" cy="2971800"/>
          </a:xfrm>
          <a:prstGeom prst="roundRect">
            <a:avLst>
              <a:gd name="adj" fmla="val 8000"/>
            </a:avLst>
          </a:prstGeom>
          <a:solidFill>
            <a:srgbClr val="090E12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20240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40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29400" y="2103120"/>
            <a:ext cx="73152" cy="2331720"/>
          </a:xfrm>
          <a:prstGeom prst="rect">
            <a:avLst/>
          </a:prstGeom>
          <a:solidFill>
            <a:srgbClr val="508A6A"/>
          </a:solidFill>
          <a:ln>
            <a:solidFill>
              <a:srgbClr val="508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34440" y="4160520"/>
            <a:ext cx="5669280" cy="347472"/>
          </a:xfrm>
          <a:prstGeom prst="rect">
            <a:avLst/>
          </a:prstGeom>
          <a:solidFill>
            <a:srgbClr val="2E1416"/>
          </a:solidFill>
          <a:ln>
            <a:solidFill>
              <a:srgbClr val="FF7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233672"/>
            <a:ext cx="521208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200" b="1">
                <a:solidFill>
                  <a:srgbClr val="FF7272"/>
                </a:solidFill>
                <a:latin typeface="Aptos Mono"/>
              </a:rPr>
              <a:t>PATH BLOCKED: obstacle 1.9 m  KEEP LEFT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1554480"/>
            <a:ext cx="3383280" cy="77724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1682495"/>
            <a:ext cx="100584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A0AEB5"/>
                </a:solidFill>
                <a:latin typeface="Aptos Mono"/>
              </a:rPr>
              <a:t>Objects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1673352"/>
            <a:ext cx="1737360" cy="2560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900" b="1">
                <a:solidFill>
                  <a:srgbClr val="B8E769"/>
                </a:solidFill>
                <a:latin typeface="Aptos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2606039"/>
            <a:ext cx="3383280" cy="77724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0728" y="2734056"/>
            <a:ext cx="100584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A0AEB5"/>
                </a:solidFill>
                <a:latin typeface="Aptos Mono"/>
              </a:rPr>
              <a:t>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724911"/>
            <a:ext cx="1737360" cy="2560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900" b="1">
                <a:solidFill>
                  <a:srgbClr val="B8E769"/>
                </a:solidFill>
                <a:latin typeface="Aptos"/>
              </a:rPr>
              <a:t>27 fps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3657600"/>
            <a:ext cx="3383280" cy="77724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2F3F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0728" y="3785615"/>
            <a:ext cx="100584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100" b="0">
                <a:solidFill>
                  <a:srgbClr val="A0AEB5"/>
                </a:solidFill>
                <a:latin typeface="Aptos Mono"/>
              </a:rPr>
              <a:t>Depth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776472"/>
            <a:ext cx="1737360" cy="2560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900" b="1">
                <a:solidFill>
                  <a:srgbClr val="B8E769"/>
                </a:solidFill>
                <a:latin typeface="Aptos"/>
              </a:rPr>
              <a:t>ACTIVE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4800600"/>
            <a:ext cx="3383280" cy="777240"/>
          </a:xfrm>
          <a:prstGeom prst="roundRect">
            <a:avLst>
              <a:gd name="adj" fmla="val 8000"/>
            </a:avLst>
          </a:prstGeom>
          <a:solidFill>
            <a:srgbClr val="1E2B27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4956048"/>
            <a:ext cx="292608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EFF3F5"/>
                </a:solidFill>
                <a:latin typeface="Aptos"/>
              </a:rPr>
              <a:t>Route: active
Voice: enabled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DOORS AND STAIRS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Model extensions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74920" cy="43434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10512"/>
            <a:ext cx="274320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65D4C4"/>
                </a:solidFill>
                <a:latin typeface="Aptos"/>
              </a:rPr>
              <a:t>Door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160520" cy="2057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EFF3F5"/>
                </a:solidFill>
                <a:latin typeface="Aptos"/>
              </a:defRPr>
            </a:pPr>
            <a:r>
              <a:t>- door_open -&gt; announce open door</a:t>
            </a:r>
          </a:p>
          <a:p>
            <a:pPr>
              <a:spcAft>
                <a:spcPts val="1000"/>
              </a:spcAft>
              <a:defRPr sz="1700">
                <a:solidFill>
                  <a:srgbClr val="EFF3F5"/>
                </a:solidFill>
                <a:latin typeface="Aptos"/>
              </a:defRPr>
            </a:pPr>
            <a:r>
              <a:t>- door_closed -&gt; obstruction warning</a:t>
            </a:r>
          </a:p>
          <a:p>
            <a:pPr>
              <a:spcAft>
                <a:spcPts val="1000"/>
              </a:spcAft>
              <a:defRPr sz="1700">
                <a:solidFill>
                  <a:srgbClr val="EFF3F5"/>
                </a:solidFill>
                <a:latin typeface="Aptos"/>
              </a:defRPr>
            </a:pPr>
            <a:r>
              <a:t>- door_semi -&gt; partial obstruction warning</a:t>
            </a:r>
          </a:p>
          <a:p>
            <a:pPr>
              <a:spcAft>
                <a:spcPts val="1000"/>
              </a:spcAft>
              <a:defRPr sz="1700">
                <a:solidFill>
                  <a:srgbClr val="EFF3F5"/>
                </a:solidFill>
                <a:latin typeface="Aptos"/>
              </a:defRPr>
            </a:pPr>
            <a:r>
              <a:t>- Distance gate: only 0–3 metres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074920"/>
            <a:ext cx="420624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A0AEB5"/>
                </a:solidFill>
                <a:latin typeface="Aptos"/>
              </a:rPr>
              <a:t>Dataset starting point: door-open-close
687 object-detection images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074920" cy="43434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F2B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810512"/>
            <a:ext cx="320040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F2BB62"/>
                </a:solidFill>
                <a:latin typeface="Aptos"/>
              </a:rPr>
              <a:t>Stair direction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06040"/>
            <a:ext cx="4160520" cy="2057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EFF3F5"/>
                </a:solidFill>
                <a:latin typeface="Aptos"/>
              </a:defRPr>
            </a:pPr>
            <a:r>
              <a:t>- stair_up -&gt; stairs going up</a:t>
            </a:r>
          </a:p>
          <a:p>
            <a:pPr>
              <a:spcAft>
                <a:spcPts val="1000"/>
              </a:spcAft>
              <a:defRPr sz="1700">
                <a:solidFill>
                  <a:srgbClr val="EFF3F5"/>
                </a:solidFill>
                <a:latin typeface="Aptos"/>
              </a:defRPr>
            </a:pPr>
            <a:r>
              <a:t>- stair_down -&gt; stairs going down</a:t>
            </a:r>
          </a:p>
          <a:p>
            <a:pPr>
              <a:spcAft>
                <a:spcPts val="1000"/>
              </a:spcAft>
              <a:defRPr sz="1700">
                <a:solidFill>
                  <a:srgbClr val="EFF3F5"/>
                </a:solidFill>
                <a:latin typeface="Aptos"/>
              </a:defRPr>
            </a:pPr>
            <a:r>
              <a:t>- Depth supplies distance and path relevance</a:t>
            </a:r>
          </a:p>
          <a:p>
            <a:pPr>
              <a:spcAft>
                <a:spcPts val="1000"/>
              </a:spcAft>
              <a:defRPr sz="1700">
                <a:solidFill>
                  <a:srgbClr val="EFF3F5"/>
                </a:solidFill>
                <a:latin typeface="Aptos"/>
              </a:defRPr>
            </a:pPr>
            <a:r>
              <a:t>- Evaluate on the project's camera viewpoint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5074920"/>
            <a:ext cx="420624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A0AEB5"/>
                </a:solidFill>
                <a:latin typeface="Aptos"/>
              </a:rPr>
              <a:t>Dataset starting point: stair-up-or-down
923 object-detection images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EVIDENCE BEFORE 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Evaluation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45336"/>
            <a:ext cx="278892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Precision /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536192"/>
            <a:ext cx="630936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EFF3F5"/>
                </a:solidFill>
                <a:latin typeface="Aptos"/>
              </a:rPr>
              <a:t>Can it detect the right things?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258568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86584"/>
            <a:ext cx="278892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mAP50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377440"/>
            <a:ext cx="630936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EFF3F5"/>
                </a:solidFill>
                <a:latin typeface="Aptos"/>
              </a:rPr>
              <a:t>How strong are the boxes?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99816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27832"/>
            <a:ext cx="278892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Distance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3218688"/>
            <a:ext cx="630936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EFF3F5"/>
                </a:solidFill>
                <a:latin typeface="Aptos"/>
              </a:rPr>
              <a:t>How close is the metre estimate?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41064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278892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False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4059936"/>
            <a:ext cx="630936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EFF3F5"/>
                </a:solidFill>
                <a:latin typeface="Aptos"/>
              </a:rPr>
              <a:t>Does it remain quiet when clear?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82312"/>
            <a:ext cx="2788920" cy="502920"/>
          </a:xfrm>
          <a:prstGeom prst="roundRect">
            <a:avLst>
              <a:gd name="adj" fmla="val 8000"/>
            </a:avLst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10328"/>
            <a:ext cx="278892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400" b="1">
                <a:solidFill>
                  <a:srgbClr val="0D151C"/>
                </a:solidFill>
                <a:latin typeface="Aptos"/>
              </a:rPr>
              <a:t>Latency / FPS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901184"/>
            <a:ext cx="630936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700" b="0">
                <a:solidFill>
                  <a:srgbClr val="EFF3F5"/>
                </a:solidFill>
                <a:latin typeface="Aptos"/>
              </a:rPr>
              <a:t>Can it respond in real time?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1143000"/>
            <a:ext cx="201168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65D4C4"/>
                </a:solidFill>
                <a:latin typeface="Aptos Mono"/>
              </a:rPr>
              <a:t>Test groups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64592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1682496"/>
            <a:ext cx="128016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00" b="1">
                <a:solidFill>
                  <a:srgbClr val="0D151C"/>
                </a:solidFill>
                <a:latin typeface="Aptos"/>
              </a:rPr>
              <a:t>people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64592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65D4C4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46920" y="1682496"/>
            <a:ext cx="128016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00" b="1">
                <a:solidFill>
                  <a:srgbClr val="0D151C"/>
                </a:solidFill>
                <a:latin typeface="Aptos"/>
              </a:rPr>
              <a:t>vehicles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233172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2368296"/>
            <a:ext cx="128016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00" b="1">
                <a:solidFill>
                  <a:srgbClr val="0D151C"/>
                </a:solidFill>
                <a:latin typeface="Aptos"/>
              </a:rPr>
              <a:t>stairs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233172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65D4C4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368296"/>
            <a:ext cx="128016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00" b="1">
                <a:solidFill>
                  <a:srgbClr val="0D151C"/>
                </a:solidFill>
                <a:latin typeface="Aptos"/>
              </a:rPr>
              <a:t>bollards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301752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54096"/>
            <a:ext cx="128016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00" b="1">
                <a:solidFill>
                  <a:srgbClr val="0D151C"/>
                </a:solidFill>
                <a:latin typeface="Aptos"/>
              </a:rPr>
              <a:t>crowds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46920" y="301752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65D4C4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46920" y="3054096"/>
            <a:ext cx="1280160" cy="20116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000" b="1">
                <a:solidFill>
                  <a:srgbClr val="0D151C"/>
                </a:solidFill>
                <a:latin typeface="Aptos"/>
              </a:rPr>
              <a:t>low light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416052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2F2323"/>
          </a:solidFill>
          <a:ln>
            <a:solidFill>
              <a:srgbClr val="FF72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6760" y="4370832"/>
            <a:ext cx="2560320" cy="4572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600" b="1">
                <a:solidFill>
                  <a:srgbClr val="EFF3F5"/>
                </a:solidFill>
                <a:latin typeface="Aptos"/>
              </a:rPr>
              <a:t>Prototype only
not a certified mobility aid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57200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000" b="1">
                <a:solidFill>
                  <a:srgbClr val="65D4C4"/>
                </a:solidFill>
                <a:latin typeface="Aptos Mono"/>
              </a:rPr>
              <a:t>WHERE THE PROJECT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675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800" b="1">
                <a:solidFill>
                  <a:srgbClr val="EFF3F5"/>
                </a:solidFill>
                <a:latin typeface="Aptos"/>
              </a:rPr>
              <a:t>Current status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73952"/>
            <a:ext cx="1828800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900" b="0">
                <a:solidFill>
                  <a:srgbClr val="A0AEB5"/>
                </a:solidFill>
                <a:latin typeface="Aptos Mono"/>
              </a:rPr>
              <a:t>SAFESTRIDE ASSIST  / 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343400"/>
          </a:xfrm>
          <a:prstGeom prst="roundRect">
            <a:avLst>
              <a:gd name="adj" fmla="val 8000"/>
            </a:avLst>
          </a:prstGeom>
          <a:solidFill>
            <a:srgbClr val="1E2B27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10512"/>
            <a:ext cx="274320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B8E769"/>
                </a:solidFill>
                <a:latin typeface="Aptos"/>
              </a:rPr>
              <a:t>Working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297680" cy="23317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Live IP-camera browser console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YOLO + depth + corridor analysis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Distance-aware voice alerts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GPS route and navigation state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Safety priority over route speech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463040"/>
            <a:ext cx="5120640" cy="43434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65D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810512"/>
            <a:ext cx="2743200" cy="36576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500" b="1">
                <a:solidFill>
                  <a:srgbClr val="65D4C4"/>
                </a:solidFill>
                <a:latin typeface="Aptos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606040"/>
            <a:ext cx="4297680" cy="23317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Train door open / closed / semi-closed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Train stair-up / stair-down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Collect project-specific camera data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Benchmark false alerts and distance error</a:t>
            </a:r>
          </a:p>
          <a:p>
            <a:pPr>
              <a:spcAft>
                <a:spcPts val="1000"/>
              </a:spcAft>
              <a:defRPr sz="1800">
                <a:solidFill>
                  <a:srgbClr val="EFF3F5"/>
                </a:solidFill>
                <a:latin typeface="Aptos"/>
              </a:defRPr>
            </a:pPr>
            <a:r>
              <a:t>- Improve offline and mobile support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E769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457200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B8E769"/>
                </a:solidFill>
                <a:latin typeface="Aptos Mono"/>
              </a:rPr>
              <a:t>SAFESTRIDE ASSIST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691640"/>
            <a:ext cx="6766560" cy="1874519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3800" b="1">
                <a:solidFill>
                  <a:srgbClr val="EFF3F5"/>
                </a:solidFill>
                <a:latin typeface="Aptos"/>
              </a:rPr>
              <a:t>Perception becomes
guidance when it is
placed in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60520"/>
            <a:ext cx="5943600" cy="4114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900" b="0">
                <a:solidFill>
                  <a:srgbClr val="A0AEB5"/>
                </a:solidFill>
                <a:latin typeface="Aptos"/>
              </a:rPr>
              <a:t>A local-processing prototype for safer, more understandable navigation assistance.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75320" y="1554480"/>
            <a:ext cx="2743200" cy="2743200"/>
          </a:xfrm>
          <a:prstGeom prst="roundRect">
            <a:avLst>
              <a:gd name="adj" fmla="val 8000"/>
            </a:avLst>
          </a:prstGeom>
          <a:solidFill>
            <a:srgbClr val="18232A"/>
          </a:solidFill>
          <a:ln>
            <a:solidFill>
              <a:srgbClr val="B8E7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920240"/>
            <a:ext cx="20116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200" b="1">
                <a:solidFill>
                  <a:srgbClr val="65D4C4"/>
                </a:solidFill>
                <a:latin typeface="Aptos"/>
              </a:rPr>
              <a:t>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697480"/>
            <a:ext cx="20116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200" b="1">
                <a:solidFill>
                  <a:srgbClr val="F2BB62"/>
                </a:solidFill>
                <a:latin typeface="Aptos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3474720"/>
            <a:ext cx="201168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2200" b="1">
                <a:solidFill>
                  <a:srgbClr val="B8E769"/>
                </a:solidFill>
                <a:latin typeface="Aptos"/>
              </a:rPr>
              <a:t>SPEAK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035040"/>
            <a:ext cx="182880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0">
                <a:solidFill>
                  <a:srgbClr val="A0AEB5"/>
                </a:solidFill>
                <a:latin typeface="Aptos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