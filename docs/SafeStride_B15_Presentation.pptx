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274320" cy="6583680"/>
          </a:xfrm>
          <a:prstGeom prst="rect">
            <a:avLst/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685800"/>
            <a:ext cx="1325880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8580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42A3F"/>
                </a:solidFill>
                <a:latin typeface="Aptos"/>
              </a:rPr>
              <a:t>THE NATIONAL INSTITUTE OF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77724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C77"/>
                </a:solidFill>
                <a:latin typeface="Aptos"/>
              </a:rPr>
              <a:t>DEPARTMENT OF COMPUTER SCIENCE 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9260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59791"/>
                </a:solidFill>
                <a:latin typeface="Aptos Mono"/>
              </a:rPr>
              <a:t>PROJECT SYNOPSIS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70408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142A3F"/>
                </a:solidFill>
                <a:latin typeface="Aptos"/>
              </a:rPr>
              <a:t>SafeStride Assist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80360"/>
            <a:ext cx="69494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7699A"/>
                </a:solidFill>
                <a:latin typeface="Aptos"/>
              </a:rPr>
              <a:t>An AI-Based Safe Walking Assistant Using Monocular Depth Estimation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67328"/>
            <a:ext cx="6583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Real-time perception  |  spatial reasoning  |  voice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28346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423160"/>
            <a:ext cx="2103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7699A"/>
                </a:solidFill>
                <a:latin typeface="Aptos"/>
              </a:rPr>
              <a:t>CAMERA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81160" y="2743200"/>
            <a:ext cx="0" cy="347472"/>
          </a:xfrm>
          <a:prstGeom prst="line">
            <a:avLst/>
          </a:prstGeom>
          <a:ln w="25400">
            <a:solidFill>
              <a:srgbClr val="25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0" y="3154680"/>
            <a:ext cx="2103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259791"/>
                </a:solidFill>
                <a:latin typeface="Aptos"/>
              </a:rPr>
              <a:t>DEPTH + PATH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81160" y="3474720"/>
            <a:ext cx="0" cy="347471"/>
          </a:xfrm>
          <a:prstGeom prst="line">
            <a:avLst/>
          </a:prstGeom>
          <a:ln w="25400">
            <a:solidFill>
              <a:srgbClr val="2597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0" y="3886200"/>
            <a:ext cx="2103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E08739"/>
                </a:solidFill>
                <a:latin typeface="Aptos"/>
              </a:rPr>
              <a:t>VOICE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6053328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B6C77"/>
                </a:solidFill>
                <a:latin typeface="Aptos"/>
              </a:rPr>
              <a:t>Batch B15  |  Major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6446520" cy="443484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5806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42A3F"/>
                </a:solidFill>
                <a:latin typeface="Aptos"/>
              </a:rPr>
              <a:t>SafeStride Assist is a research and teaching prototype for safer walking assistance.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5760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1D2B36"/>
                </a:solidFill>
                <a:latin typeface="Aptos"/>
              </a:rPr>
              <a:t>It combines YOLO-based detection, ByteTrack tracking, Depth Anything V2, ground-plane calibration, and speech feedback. The central method evaluates a three-metre forward walking corridor instead of reporting every object in the camera 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51960"/>
            <a:ext cx="5760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5B6C77"/>
                </a:solidFill>
                <a:latin typeface="Aptos"/>
              </a:rPr>
              <a:t>The output is a concise action such as: Stop. Path blocked, 2 meters. Keep left. Processing is local by default, and the system is explicitly an educational prototype rather than a certified mobility or emergency device.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691640"/>
            <a:ext cx="35204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1837944"/>
            <a:ext cx="1143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7699A"/>
                </a:solidFill>
                <a:latin typeface="Aptos"/>
              </a:rPr>
              <a:t>PERCEIVE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837944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A3F"/>
                </a:solidFill>
                <a:latin typeface="Aptos"/>
              </a:rPr>
              <a:t>camera +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3017520"/>
            <a:ext cx="35204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59" y="3163824"/>
            <a:ext cx="1143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59791"/>
                </a:solidFill>
                <a:latin typeface="Aptos"/>
              </a:rPr>
              <a:t>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163824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A3F"/>
                </a:solidFill>
                <a:latin typeface="Aptos"/>
              </a:rPr>
              <a:t>depth + corridor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343400"/>
            <a:ext cx="35204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59" y="4489704"/>
            <a:ext cx="1143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"/>
              </a:rPr>
              <a:t>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489704"/>
            <a:ext cx="1828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2A3F"/>
                </a:solidFill>
                <a:latin typeface="Aptos"/>
              </a:rPr>
              <a:t>voice + captions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7" y="1618488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Introduction and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7" y="2075688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395728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59736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7" y="2414016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Problem statement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64207" y="2871216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191256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55264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7" y="3209544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Literature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64207" y="3666744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3986783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50791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7" y="4005071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System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64207" y="4462271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4782312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7" y="480060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System design and data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64207" y="5257800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1600200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664208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1618488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Algorithm code snippets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50608" y="2075688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2395728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459736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2414016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Implementation and evaluation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50608" y="2871216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0" y="3191256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255264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0608" y="3209544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Novelty and contribution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50608" y="3666744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3986783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050791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0608" y="4005071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Limitations and safety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50608" y="4462271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0800" y="4782312"/>
            <a:ext cx="502920" cy="347472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846320"/>
            <a:ext cx="50292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4800600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Conclusion and references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50608" y="5257800"/>
            <a:ext cx="43434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66294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42A3F"/>
                </a:solidFill>
                <a:latin typeface="Aptos"/>
              </a:rPr>
              <a:t>Assistive technology should reduce uncertainty without removing the user's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5989320" cy="2331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Traditional mobility aids remain essential for safe navigation.</a:t>
            </a:r>
          </a:p>
          <a:p>
            <a:pPr>
              <a:spcAft>
                <a:spcPts val="12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A camera can provide an additional perception channel in unfamiliar environments.</a:t>
            </a:r>
          </a:p>
          <a:p>
            <a:pPr>
              <a:spcAft>
                <a:spcPts val="12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The useful question is not only what is visible, but what is relevant to the forward path.</a:t>
            </a:r>
          </a:p>
          <a:p>
            <a:pPr>
              <a:spcAft>
                <a:spcPts val="12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Feedback must be short, prioritised, and understandable under time pressure.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645920"/>
            <a:ext cx="3474720" cy="4160520"/>
          </a:xfrm>
          <a:prstGeom prst="roundRect">
            <a:avLst>
              <a:gd name="adj" fmla="val 6000"/>
            </a:avLst>
          </a:prstGeom>
          <a:solidFill>
            <a:srgbClr val="1C2F39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53527" y="1755648"/>
            <a:ext cx="3255263" cy="1747418"/>
          </a:xfrm>
          <a:prstGeom prst="rect">
            <a:avLst/>
          </a:prstGeom>
          <a:solidFill>
            <a:srgbClr val="4C6970"/>
          </a:solidFill>
          <a:ln w="12700">
            <a:solidFill>
              <a:srgbClr val="4C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53527" y="3892600"/>
            <a:ext cx="3255263" cy="1414576"/>
          </a:xfrm>
          <a:prstGeom prst="rect">
            <a:avLst/>
          </a:prstGeom>
          <a:solidFill>
            <a:srgbClr val="5C7165"/>
          </a:solidFill>
          <a:ln w="12700">
            <a:solidFill>
              <a:srgbClr val="5C7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653527" y="3892600"/>
            <a:ext cx="325526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8759952" y="3726180"/>
            <a:ext cx="1042415" cy="1414576"/>
          </a:xfrm>
          <a:prstGeom prst="triangle">
            <a:avLst/>
          </a:prstGeom>
          <a:solidFill>
            <a:srgbClr val="58C2B4"/>
          </a:solidFill>
          <a:ln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89643" y="3434943"/>
            <a:ext cx="451713" cy="915314"/>
          </a:xfrm>
          <a:prstGeom prst="roundRect">
            <a:avLst>
              <a:gd name="adj" fmla="val 6000"/>
            </a:avLst>
          </a:prstGeom>
          <a:solidFill>
            <a:srgbClr val="E08739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41356" y="3476548"/>
            <a:ext cx="764438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2.0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367527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FORWARD CORRIDOR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874519"/>
            <a:ext cx="1325880" cy="292608"/>
          </a:xfrm>
          <a:prstGeom prst="roundRect">
            <a:avLst>
              <a:gd name="adj" fmla="val 6000"/>
            </a:avLst>
          </a:prstGeom>
          <a:solidFill>
            <a:srgbClr val="FFECDA"/>
          </a:solidFill>
          <a:ln w="12700">
            <a:solidFill>
              <a:srgbClr val="FFE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924812"/>
            <a:ext cx="13258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BE4343"/>
                </a:solidFill>
                <a:latin typeface="Aptos"/>
              </a:rPr>
              <a:t>PATH 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5925312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C77"/>
                </a:solidFill>
                <a:latin typeface="Aptos"/>
              </a:rPr>
              <a:t>Illustrative camera view with a walking corridor and distance-aware blocker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6000"/>
            </a:avLst>
          </a:prstGeom>
          <a:solidFill>
            <a:srgbClr val="FEF5F2"/>
          </a:solidFill>
          <a:ln w="12700">
            <a:solidFill>
              <a:srgbClr val="F4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BE4343"/>
                </a:solidFill>
                <a:latin typeface="Aptos"/>
              </a:rPr>
              <a:t>Detection alone is insufficient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97480"/>
            <a:ext cx="411480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A bounding box does not indicate path relevance.</a:t>
            </a:r>
          </a:p>
          <a:p>
            <a:pPr>
              <a:spcAft>
                <a:spcPts val="11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A class label does not provide distance or urgency.</a:t>
            </a:r>
          </a:p>
          <a:p>
            <a:pPr>
              <a:spcAft>
                <a:spcPts val="11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Unknown blockers may not belong to a trained class.</a:t>
            </a:r>
          </a:p>
          <a:p>
            <a:pPr>
              <a:spcAft>
                <a:spcPts val="1100"/>
              </a:spcAft>
              <a:defRPr sz="1800">
                <a:solidFill>
                  <a:srgbClr val="1D2B36"/>
                </a:solidFill>
                <a:latin typeface="Aptos"/>
              </a:defRPr>
            </a:pPr>
            <a:r>
              <a:t>• Frame-by-frame alerts can overwhelm the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074920" cy="452628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B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297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59791"/>
                </a:solidFill>
                <a:latin typeface="Aptos"/>
              </a:rPr>
              <a:t>SafeStride must decide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697480"/>
            <a:ext cx="320040" cy="320040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761488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715768"/>
            <a:ext cx="3566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Is the path blocked?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337560"/>
            <a:ext cx="320040" cy="320040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401568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355848"/>
            <a:ext cx="3566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How far away is it?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3977639"/>
            <a:ext cx="320040" cy="320040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041648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995927"/>
            <a:ext cx="3566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Which side is clearer?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617720"/>
            <a:ext cx="320040" cy="320040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681728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636007"/>
            <a:ext cx="35661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42A3F"/>
                </a:solidFill>
                <a:latin typeface="Aptos"/>
              </a:rPr>
              <a:t>Should the system speak now?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RESEARCH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Literature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08760"/>
            <a:ext cx="2148840" cy="502920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45919"/>
            <a:ext cx="1965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Real-time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58191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YOLO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581912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Fast visual object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221991"/>
            <a:ext cx="2148840" cy="502920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59151"/>
            <a:ext cx="1965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Temporal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295144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ByteTrack 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95144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Stable identities across frames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935224"/>
            <a:ext cx="2148840" cy="502920"/>
          </a:xfrm>
          <a:prstGeom prst="roundRect">
            <a:avLst>
              <a:gd name="adj" fmla="val 6000"/>
            </a:avLst>
          </a:prstGeom>
          <a:solidFill>
            <a:srgbClr val="E08739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72384"/>
            <a:ext cx="1965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Monocular depth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008376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Depth Anything V2 [3]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008376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Relative scene-depth estimation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648456"/>
            <a:ext cx="2148840" cy="502920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85615"/>
            <a:ext cx="1965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Assistive navigation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721607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Khan, Xu, Eltaher [7, 8, 10]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721607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Navigation and obstacle-avoidance reviews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361688"/>
            <a:ext cx="2148840" cy="502920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98848"/>
            <a:ext cx="1965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Multimodal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43484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Katzschmann, Johannesson, Shull [9, 11, 12]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434840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Haptic and audio guidance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074920"/>
            <a:ext cx="2148840" cy="502920"/>
          </a:xfrm>
          <a:prstGeom prst="roundRect">
            <a:avLst>
              <a:gd name="adj" fmla="val 6000"/>
            </a:avLst>
          </a:prstGeom>
          <a:solidFill>
            <a:srgbClr val="E08739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212080"/>
            <a:ext cx="1965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User-centred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14807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Ranganeni, Zhang [13, 14]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148072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B6C77"/>
                </a:solidFill>
                <a:latin typeface="Aptos"/>
              </a:rPr>
              <a:t>Agency and accessible route assistance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897880"/>
            <a:ext cx="10698480" cy="41148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ED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6007608"/>
            <a:ext cx="1024128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42A3F"/>
                </a:solidFill>
                <a:latin typeface="Aptos"/>
              </a:rPr>
              <a:t>Gap addressed: integrate perception, geometry, temporal evidence, risk, and human-centred feedback in one local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10332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>
                <a:solidFill>
                  <a:srgbClr val="5B6C77"/>
                </a:solidFill>
                <a:latin typeface="Aptos"/>
              </a:rPr>
              <a:t>The architecture separates sensing, spatial reasoning, decisions, and interaction.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73152" cy="1143000"/>
          </a:xfrm>
          <a:prstGeom prst="rect">
            <a:avLst/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313432"/>
            <a:ext cx="1554479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79192"/>
            <a:ext cx="155447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7"/>
                </a:solidFill>
                <a:latin typeface="Aptos"/>
              </a:rPr>
              <a:t>IP webcam
USB webcam
video clip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148840"/>
            <a:ext cx="2148840" cy="114300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2148840"/>
            <a:ext cx="73152" cy="1143000"/>
          </a:xfrm>
          <a:prstGeom prst="rect">
            <a:avLst/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313432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PERCEPTION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679192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7"/>
                </a:solidFill>
                <a:latin typeface="Aptos"/>
              </a:rPr>
              <a:t>YOLO detection
ByteTrack
Depth Anything V2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148840"/>
            <a:ext cx="2148840" cy="11430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2148840"/>
            <a:ext cx="73152" cy="1143000"/>
          </a:xfrm>
          <a:prstGeom prst="rect">
            <a:avLst/>
          </a:prstGeom>
          <a:solidFill>
            <a:srgbClr val="E08739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313432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SPATIAL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2679192"/>
            <a:ext cx="1828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7"/>
                </a:solidFill>
                <a:latin typeface="Aptos"/>
              </a:rPr>
              <a:t>Ground plane
3D projection
3 m corridor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148840"/>
            <a:ext cx="1737360" cy="1143000"/>
          </a:xfrm>
          <a:prstGeom prst="roundRect">
            <a:avLst>
              <a:gd name="adj" fmla="val 6000"/>
            </a:avLst>
          </a:prstGeom>
          <a:solidFill>
            <a:srgbClr val="FEF5F2"/>
          </a:solidFill>
          <a:ln w="1270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2148840"/>
            <a:ext cx="73152" cy="1143000"/>
          </a:xfrm>
          <a:prstGeom prst="rect">
            <a:avLst/>
          </a:prstGeom>
          <a:solidFill>
            <a:srgbClr val="BE4343"/>
          </a:solidFill>
          <a:ln w="1270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2313432"/>
            <a:ext cx="1417319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679192"/>
            <a:ext cx="1417319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7"/>
                </a:solidFill>
                <a:latin typeface="Aptos"/>
              </a:rPr>
              <a:t>Risk + TTC
priority
cooldown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2148840"/>
            <a:ext cx="1143000" cy="114300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24160" y="2148840"/>
            <a:ext cx="73152" cy="1143000"/>
          </a:xfrm>
          <a:prstGeom prst="rect">
            <a:avLst/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25328" y="2313432"/>
            <a:ext cx="822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42A3F"/>
                </a:solidFill>
                <a:latin typeface="Aptos"/>
              </a:rPr>
              <a:t>USER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5328" y="2679192"/>
            <a:ext cx="8229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B6C77"/>
                </a:solidFill>
                <a:latin typeface="Aptos"/>
              </a:rPr>
              <a:t>Browser console
voice
captions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697480" y="2724912"/>
            <a:ext cx="347472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49240" y="2724912"/>
            <a:ext cx="347472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09560" y="2724912"/>
            <a:ext cx="347472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040112" y="2724912"/>
            <a:ext cx="347472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234440" y="4114800"/>
            <a:ext cx="9784080" cy="105156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4370832"/>
            <a:ext cx="1463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7699A"/>
                </a:solidFill>
                <a:latin typeface="Aptos"/>
              </a:rPr>
              <a:t>Safety priority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3434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42A3F"/>
                </a:solidFill>
                <a:latin typeface="Aptos"/>
              </a:rPr>
              <a:t>urgent camera obstruction  &gt;  local path correction  &gt;  background route/status information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669280"/>
            <a:ext cx="97840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5B6C77"/>
                </a:solidFill>
                <a:latin typeface="Aptos"/>
              </a:rPr>
              <a:t>Local processing keeps the core perception loop independent of remote cloud 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HOW THE PROTOTYPE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System design and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508760" cy="114300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320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A3F"/>
                </a:solidFill>
                <a:latin typeface="Aptos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70048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C77"/>
                </a:solidFill>
                <a:latin typeface="Aptos"/>
              </a:rPr>
              <a:t>frame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13432" y="2395728"/>
            <a:ext cx="246888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51760" y="1828800"/>
            <a:ext cx="1508760" cy="114300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1993392"/>
            <a:ext cx="320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A3F"/>
                </a:solidFill>
                <a:latin typeface="Aptos"/>
              </a:rPr>
              <a:t>Detect +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670048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C77"/>
                </a:solidFill>
                <a:latin typeface="Aptos"/>
              </a:rPr>
              <a:t>objects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87952" y="2395728"/>
            <a:ext cx="246888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26279" y="1828800"/>
            <a:ext cx="1508760" cy="114300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7" y="1993392"/>
            <a:ext cx="320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A3F"/>
                </a:solidFill>
                <a:latin typeface="Aptos"/>
              </a:rPr>
              <a:t>Estimate 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2670048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C77"/>
                </a:solidFill>
                <a:latin typeface="Aptos"/>
              </a:rPr>
              <a:t>geometry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62471" y="2395728"/>
            <a:ext cx="246888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799" y="1828800"/>
            <a:ext cx="1508760" cy="114300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7" y="1993392"/>
            <a:ext cx="320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 Mon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7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A3F"/>
                </a:solidFill>
                <a:latin typeface="Aptos"/>
              </a:rPr>
              <a:t>Evaluate corridor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7" y="2670048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C77"/>
                </a:solidFill>
                <a:latin typeface="Aptos"/>
              </a:rPr>
              <a:t>path status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36992" y="2395728"/>
            <a:ext cx="246887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75319" y="1828800"/>
            <a:ext cx="1508760" cy="114300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7" y="1993392"/>
            <a:ext cx="320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 Mon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7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A3F"/>
                </a:solidFill>
                <a:latin typeface="Aptos"/>
              </a:rPr>
              <a:t>Rank 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7" y="2670048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C77"/>
                </a:solidFill>
                <a:latin typeface="Aptos"/>
              </a:rPr>
              <a:t>urgency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811511" y="2395728"/>
            <a:ext cx="246888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49840" y="1828800"/>
            <a:ext cx="1508760" cy="114300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9567" y="1993392"/>
            <a:ext cx="320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8739"/>
                </a:solidFill>
                <a:latin typeface="Aptos Mono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9567" y="23317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42A3F"/>
                </a:solidFill>
                <a:latin typeface="Aptos"/>
              </a:rPr>
              <a:t>Speak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9567" y="2670048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B6C77"/>
                </a:solidFill>
                <a:latin typeface="Aptos"/>
              </a:rPr>
              <a:t>guidance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370332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C2F39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2688" y="3813048"/>
            <a:ext cx="3438144" cy="844905"/>
          </a:xfrm>
          <a:prstGeom prst="rect">
            <a:avLst/>
          </a:prstGeom>
          <a:solidFill>
            <a:srgbClr val="4C6970"/>
          </a:solidFill>
          <a:ln w="12700">
            <a:solidFill>
              <a:srgbClr val="4C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2688" y="4789627"/>
            <a:ext cx="3438144" cy="683971"/>
          </a:xfrm>
          <a:prstGeom prst="rect">
            <a:avLst/>
          </a:prstGeom>
          <a:solidFill>
            <a:srgbClr val="5C7165"/>
          </a:solidFill>
          <a:ln w="12700">
            <a:solidFill>
              <a:srgbClr val="5C7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932688" y="4789627"/>
            <a:ext cx="343814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2103120" y="4709160"/>
            <a:ext cx="1097280" cy="683971"/>
          </a:xfrm>
          <a:prstGeom prst="triangle">
            <a:avLst/>
          </a:prstGeom>
          <a:solidFill>
            <a:srgbClr val="58C2B4"/>
          </a:solidFill>
          <a:ln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71216" y="4568342"/>
            <a:ext cx="475488" cy="442569"/>
          </a:xfrm>
          <a:prstGeom prst="roundRect">
            <a:avLst>
              <a:gd name="adj" fmla="val 6000"/>
            </a:avLst>
          </a:prstGeom>
          <a:solidFill>
            <a:srgbClr val="E08739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6703" y="4588459"/>
            <a:ext cx="804672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2.0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276088"/>
            <a:ext cx="32004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FORWARD CORRIDOR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560" y="3931920"/>
            <a:ext cx="1325880" cy="292608"/>
          </a:xfrm>
          <a:prstGeom prst="roundRect">
            <a:avLst>
              <a:gd name="adj" fmla="val 6000"/>
            </a:avLst>
          </a:prstGeom>
          <a:solidFill>
            <a:srgbClr val="FFECDA"/>
          </a:solidFill>
          <a:ln w="12700">
            <a:solidFill>
              <a:srgbClr val="FFE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3982211"/>
            <a:ext cx="13258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BE4343"/>
                </a:solidFill>
                <a:latin typeface="Aptos"/>
              </a:rPr>
              <a:t>PATH BLOCKED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00600" y="3703320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74920" y="3977639"/>
            <a:ext cx="21488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59791"/>
                </a:solidFill>
                <a:latin typeface="Aptos Mono"/>
              </a:rPr>
              <a:t>STATE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4920" y="4434840"/>
            <a:ext cx="21488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42A3F"/>
                </a:solidFill>
                <a:latin typeface="Aptos"/>
              </a:rPr>
              <a:t>Path: BLOCKED
Nearest: 2.0 m
Direction: right
Advice: KEEP LEFT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3703320"/>
            <a:ext cx="3474720" cy="2011680"/>
          </a:xfrm>
          <a:prstGeom prst="roundRect">
            <a:avLst>
              <a:gd name="adj" fmla="val 6000"/>
            </a:avLst>
          </a:prstGeom>
          <a:solidFill>
            <a:srgbClr val="FEF5F2"/>
          </a:solidFill>
          <a:ln w="12700">
            <a:solidFill>
              <a:srgbClr val="F4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83879" y="3977639"/>
            <a:ext cx="28346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BE4343"/>
                </a:solidFill>
                <a:latin typeface="Aptos Mono"/>
              </a:rPr>
              <a:t>VOICE 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4526280"/>
            <a:ext cx="28346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2A3F"/>
                </a:solidFill>
                <a:latin typeface="Aptos"/>
              </a:rPr>
              <a:t>Stop. Path blocked,
2 meters. Keep left.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SYSTEM DESIGN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Spatial reasoning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>
                <a:solidFill>
                  <a:srgbClr val="5B6C77"/>
                </a:solidFill>
                <a:latin typeface="Aptos"/>
              </a:rPr>
              <a:t>The key design decision is to evaluate the user's forward corridor, not every detected object.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4709160" cy="3611880"/>
          </a:xfrm>
          <a:prstGeom prst="roundRect">
            <a:avLst>
              <a:gd name="adj" fmla="val 6000"/>
            </a:avLst>
          </a:prstGeom>
          <a:solidFill>
            <a:srgbClr val="1C2F39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" y="1984248"/>
            <a:ext cx="4489704" cy="1516989"/>
          </a:xfrm>
          <a:prstGeom prst="rect">
            <a:avLst/>
          </a:prstGeom>
          <a:solidFill>
            <a:srgbClr val="4C6970"/>
          </a:solidFill>
          <a:ln w="12700">
            <a:solidFill>
              <a:srgbClr val="4C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3824935"/>
            <a:ext cx="4489704" cy="1228039"/>
          </a:xfrm>
          <a:prstGeom prst="rect">
            <a:avLst/>
          </a:prstGeom>
          <a:solidFill>
            <a:srgbClr val="5C7165"/>
          </a:solidFill>
          <a:ln w="12700">
            <a:solidFill>
              <a:srgbClr val="5C71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32688" y="3824935"/>
            <a:ext cx="4489704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2471166" y="3680460"/>
            <a:ext cx="1412748" cy="1228039"/>
          </a:xfrm>
          <a:prstGeom prst="triangle">
            <a:avLst/>
          </a:prstGeom>
          <a:solidFill>
            <a:srgbClr val="58C2B4"/>
          </a:solidFill>
          <a:ln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60089" y="3427628"/>
            <a:ext cx="612190" cy="794613"/>
          </a:xfrm>
          <a:prstGeom prst="roundRect">
            <a:avLst>
              <a:gd name="adj" fmla="val 6000"/>
            </a:avLst>
          </a:prstGeom>
          <a:solidFill>
            <a:srgbClr val="E08739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2280" y="3463747"/>
            <a:ext cx="1036015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2.0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047488"/>
            <a:ext cx="425196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FORWARD CORRIDOR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2103120"/>
            <a:ext cx="1325880" cy="292608"/>
          </a:xfrm>
          <a:prstGeom prst="roundRect">
            <a:avLst>
              <a:gd name="adj" fmla="val 6000"/>
            </a:avLst>
          </a:prstGeom>
          <a:solidFill>
            <a:srgbClr val="FFECDA"/>
          </a:solidFill>
          <a:ln w="12700">
            <a:solidFill>
              <a:srgbClr val="FFE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153412"/>
            <a:ext cx="13258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BE4343"/>
                </a:solidFill>
                <a:latin typeface="Aptos"/>
              </a:rPr>
              <a:t>PATH BLOCKED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874519"/>
            <a:ext cx="5029200" cy="361188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B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12848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59791"/>
                </a:solidFill>
                <a:latin typeface="Aptos"/>
              </a:rPr>
              <a:t>Corridor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52928"/>
            <a:ext cx="411480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D2B36"/>
                </a:solidFill>
                <a:latin typeface="Aptos"/>
              </a:defRPr>
            </a:pPr>
            <a:r>
              <a:t>• Estimate relative depth with Depth Anything V2.</a:t>
            </a:r>
          </a:p>
          <a:p>
            <a:pPr>
              <a:spcAft>
                <a:spcPts val="900"/>
              </a:spcAft>
              <a:defRPr sz="1600">
                <a:solidFill>
                  <a:srgbClr val="1D2B36"/>
                </a:solidFill>
                <a:latin typeface="Aptos"/>
              </a:defRPr>
            </a:pPr>
            <a:r>
              <a:t>• Fit a ground plane using the lower image region.</a:t>
            </a:r>
          </a:p>
          <a:p>
            <a:pPr>
              <a:spcAft>
                <a:spcPts val="900"/>
              </a:spcAft>
              <a:defRPr sz="1600">
                <a:solidFill>
                  <a:srgbClr val="1D2B36"/>
                </a:solidFill>
                <a:latin typeface="Aptos"/>
              </a:defRPr>
            </a:pPr>
            <a:r>
              <a:t>• Project depth into approximate 3D points.</a:t>
            </a:r>
          </a:p>
          <a:p>
            <a:pPr>
              <a:spcAft>
                <a:spcPts val="900"/>
              </a:spcAft>
              <a:defRPr sz="1600">
                <a:solidFill>
                  <a:srgbClr val="1D2B36"/>
                </a:solidFill>
                <a:latin typeface="Aptos"/>
              </a:defRPr>
            </a:pPr>
            <a:r>
              <a:t>• Evaluate a one-metre-wide corridor up to three metres ahead.</a:t>
            </a:r>
          </a:p>
          <a:p>
            <a:pPr>
              <a:spcAft>
                <a:spcPts val="900"/>
              </a:spcAft>
              <a:defRPr sz="1600">
                <a:solidFill>
                  <a:srgbClr val="1D2B36"/>
                </a:solidFill>
                <a:latin typeface="Aptos"/>
              </a:defRPr>
            </a:pPr>
            <a:r>
              <a:t>• Mark named or unknown blockers as in_path when geometry supports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Code snippets for the algorithms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5257800" cy="42976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48920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CORRIDOR AND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12264"/>
            <a:ext cx="489204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D2B36"/>
                </a:solidFill>
                <a:latin typeface="Cascadia Mono"/>
              </a:rPr>
              <a:t>depth = estimate_depth(frame)
plane = fit_ground_plane(depth, camera_height)
points = project_to_3d(depth, plane)
blocked = corridor_has_obstacle(
    points, width=1.0, max_range=3.0
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429768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64792"/>
            <a:ext cx="48920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ALERT PRIORITISATION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12264"/>
            <a:ext cx="4892040" cy="3657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D2B36"/>
                </a:solidFill>
                <a:latin typeface="Cascadia Mono"/>
              </a:rPr>
              <a:t>tracks = bytetrack.update(detections)
ttc = estimate_ttc(track_history)
priority = rank_alert(
    in_path, distance, ttc, persistence
)
if priority == 'urgent':
    speak(alert_text)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PROTOTYPE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Implementation and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42A3F"/>
                </a:solidFill>
                <a:latin typeface="Aptos"/>
              </a:rPr>
              <a:t>Implemented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06040"/>
            <a:ext cx="4251960" cy="2240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Python 3.10+ and PyTorch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OpenCV and Ultralytics YOLO11s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ByteTrack and Depth Anything V2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Browser live console with captions and speech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IP webcam, USB webcam, uploaded video, or test clip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4983480" cy="43434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F6D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92024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E08739"/>
                </a:solidFill>
                <a:latin typeface="Aptos"/>
              </a:rPr>
              <a:t>Evaluation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06040"/>
            <a:ext cx="3977639" cy="2240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Precision, recall, and mAP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Path-blocking accuracy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Distance-estimation error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False-alert and missed-hazard rate</a:t>
            </a:r>
          </a:p>
          <a:p>
            <a:pPr>
              <a:spcAft>
                <a:spcPts val="10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Latency and frames per second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WHAT IS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Novelty and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600200"/>
            <a:ext cx="548640" cy="384048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5486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91056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2A3F"/>
                </a:solidFill>
                <a:latin typeface="Aptos"/>
              </a:rPr>
              <a:t>Path-aware perception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600200"/>
            <a:ext cx="58064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5B6C77"/>
                </a:solidFill>
                <a:latin typeface="Aptos"/>
              </a:rPr>
              <a:t>Moves beyond object labels by deciding whether the forward walking corridor is blocked.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2167128"/>
            <a:ext cx="928116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651760"/>
            <a:ext cx="548640" cy="384048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43200"/>
            <a:ext cx="5486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642616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2A3F"/>
                </a:solidFill>
                <a:latin typeface="Aptos"/>
              </a:rPr>
              <a:t>Known and unknown hazards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651760"/>
            <a:ext cx="58064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5B6C77"/>
                </a:solidFill>
                <a:latin typeface="Aptos"/>
              </a:rPr>
              <a:t>Combines detector outputs with depth geometry to identify unlabelled blockers.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3218688"/>
            <a:ext cx="928116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703320"/>
            <a:ext cx="548640" cy="384048"/>
          </a:xfrm>
          <a:prstGeom prst="roundRect">
            <a:avLst>
              <a:gd name="adj" fmla="val 6000"/>
            </a:avLst>
          </a:prstGeom>
          <a:solidFill>
            <a:srgbClr val="259791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59"/>
            <a:ext cx="5486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694176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2A3F"/>
                </a:solidFill>
                <a:latin typeface="Aptos"/>
              </a:rPr>
              <a:t>Actionable 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703320"/>
            <a:ext cx="58064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5B6C77"/>
                </a:solidFill>
                <a:latin typeface="Aptos"/>
              </a:rPr>
              <a:t>Turns approximate monocular depth into distance, direction, and side guidance.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4270248"/>
            <a:ext cx="928116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754879"/>
            <a:ext cx="548640" cy="384048"/>
          </a:xfrm>
          <a:prstGeom prst="roundRect">
            <a:avLst>
              <a:gd name="adj" fmla="val 6000"/>
            </a:avLst>
          </a:prstGeom>
          <a:solidFill>
            <a:srgbClr val="27699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46319"/>
            <a:ext cx="5486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745736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2A3F"/>
                </a:solidFill>
                <a:latin typeface="Aptos"/>
              </a:rPr>
              <a:t>Safety-first speech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754879"/>
            <a:ext cx="58064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5B6C77"/>
                </a:solidFill>
                <a:latin typeface="Aptos"/>
              </a:rPr>
              <a:t>Uses persistence, time-to-collision, priority, and cooldowns to control announcements.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5321807"/>
            <a:ext cx="928116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RESPONSIBLE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Limitations and safety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EF5F2"/>
          </a:solidFill>
          <a:ln w="12700">
            <a:solidFill>
              <a:srgbClr val="F4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BE4343"/>
                </a:solidFill>
                <a:latin typeface="Aptos"/>
              </a:rPr>
              <a:t>Known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06040"/>
            <a:ext cx="4297680" cy="2057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Monocular depth is approximate, not guaranteed metric distance.</a:t>
            </a:r>
          </a:p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Results depend on camera height, pitch, lighting, blur, reflections, crowds, and ground visibility.</a:t>
            </a:r>
          </a:p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Speech behaviour depends on browser and operating-system audio support.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4983480" cy="434340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B4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920240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259791"/>
                </a:solidFill>
                <a:latin typeface="Aptos"/>
              </a:rPr>
              <a:t>Safety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06040"/>
            <a:ext cx="4023360" cy="2057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Educational research prototype only.</a:t>
            </a:r>
          </a:p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Not a certified mobility aid, medical device, or emergency system.</a:t>
            </a:r>
          </a:p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Must not replace a white cane, guide dog, or human assistance.</a:t>
            </a:r>
          </a:p>
          <a:p>
            <a:pPr>
              <a:spcAft>
                <a:spcPts val="1200"/>
              </a:spcAft>
              <a:defRPr sz="1700">
                <a:solidFill>
                  <a:srgbClr val="1D2B36"/>
                </a:solidFill>
                <a:latin typeface="Aptos"/>
              </a:defRPr>
            </a:pPr>
            <a:r>
              <a:t>• Testing requires supervision and conventional mobility safety methods.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142A3F"/>
                </a:solidFill>
                <a:latin typeface="Aptos"/>
              </a:rPr>
              <a:t>SafeStride Assist demonstrates how perception can become guidance when placed in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2240280" cy="146304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276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3090672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7699A"/>
                </a:solidFill>
                <a:latin typeface="Aptos"/>
              </a:rPr>
              <a:t>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6576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B6C77"/>
                </a:solidFill>
                <a:latin typeface="Aptos"/>
              </a:rPr>
              <a:t>detect and track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3474720"/>
            <a:ext cx="320040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0" y="2743200"/>
            <a:ext cx="2240280" cy="146304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25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3090672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59791"/>
                </a:solidFill>
                <a:latin typeface="Aptos"/>
              </a:rP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6576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B6C77"/>
                </a:solidFill>
                <a:latin typeface="Aptos"/>
              </a:rPr>
              <a:t>estimate depth and distance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3474720"/>
            <a:ext cx="320040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46520" y="2743200"/>
            <a:ext cx="2240280" cy="1463040"/>
          </a:xfrm>
          <a:prstGeom prst="roundRect">
            <a:avLst>
              <a:gd name="adj" fmla="val 6000"/>
            </a:avLst>
          </a:prstGeom>
          <a:solidFill>
            <a:srgbClr val="EBF3FA"/>
          </a:solidFill>
          <a:ln w="12700">
            <a:solidFill>
              <a:srgbClr val="E08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090672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E08739"/>
                </a:solidFill>
                <a:latin typeface="Aptos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6576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B6C77"/>
                </a:solidFill>
                <a:latin typeface="Aptos"/>
              </a:rPr>
              <a:t>evaluate path and urgency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32520" y="3474720"/>
            <a:ext cx="320040" cy="0"/>
          </a:xfrm>
          <a:prstGeom prst="line">
            <a:avLst/>
          </a:prstGeom>
          <a:ln w="25400">
            <a:solidFill>
              <a:srgbClr val="142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35439" y="2743200"/>
            <a:ext cx="2240280" cy="1463040"/>
          </a:xfrm>
          <a:prstGeom prst="roundRect">
            <a:avLst>
              <a:gd name="adj" fmla="val 6000"/>
            </a:avLst>
          </a:prstGeom>
          <a:solidFill>
            <a:srgbClr val="EDF7F8"/>
          </a:solidFill>
          <a:ln w="1270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599" y="3090672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BE4343"/>
                </a:solidFill>
                <a:latin typeface="Aptos"/>
              </a:rPr>
              <a:t>SPEAK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1" y="3657600"/>
            <a:ext cx="1920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B6C77"/>
                </a:solidFill>
                <a:latin typeface="Aptos"/>
              </a:rPr>
              <a:t>give concise guidance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5B6C77"/>
                </a:solidFill>
                <a:latin typeface="Aptos"/>
              </a:rPr>
              <a:t>The project provides a modular foundation for future evaluation, calibration, custom hazard models, and accessible navigation research.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A3F"/>
          </a:solidFill>
          <a:ln w="12700">
            <a:solidFill>
              <a:srgbClr val="142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29260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9791"/>
                </a:solidFill>
                <a:latin typeface="Aptos Mono"/>
              </a:rPr>
              <a:t>SAFESTRIDE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347472"/>
            <a:ext cx="23317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>
                <a:solidFill>
                  <a:srgbClr val="5B6C77"/>
                </a:solidFill>
                <a:latin typeface="Aptos Mono"/>
              </a:rPr>
              <a:t>SELECTED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42A3F"/>
                </a:solidFill>
                <a:latin typeface="Aptos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61872"/>
            <a:ext cx="10972800" cy="18288"/>
          </a:xfrm>
          <a:prstGeom prst="rect">
            <a:avLst/>
          </a:prstGeom>
          <a:solidFill>
            <a:srgbClr val="E2EAED"/>
          </a:solidFill>
          <a:ln w="12700">
            <a:solidFill>
              <a:srgbClr val="E2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96012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C77"/>
                </a:solidFill>
                <a:latin typeface="Aptos Mono"/>
              </a:rPr>
              <a:t>B15  |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[1] Redmon et al., You Only Look Once, CVPR, 2016.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[2] Zhang et al., ByteTrack, ECCV, 2022.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06624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[3] Yang et al., Depth Anything V2, NeurIPS, 2024.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82696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[4] Ranftl et al., Vision Transformers for Dense Prediction, ICCV, 2021.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58768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[5] Ultralytics, Ultralytics YOLO Documentation.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[6] World Health Organization, World Report on Vision, 2019.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10912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[7] Khan et al., Navigation Assistants Systematic Review, IEEE Access, 2021.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[8] Xu et al., Wearable Obstacle Avoidance Travel Aids, IEEE Access, 2023.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30552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[9] Katzschmann et al., Safe Local Navigation with ToF and Haptic Feedback, IEEE TNSRE, 2018.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706624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[10] Eltaher et al., Urban Navigation Systems Review, Sensors, 2021.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282696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[11] Johannesson et al., The Sound of Vision, Brain Sciences, 2016.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858768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[12] Shull and Damian, Haptic Wearables Review, JNER, 2015.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34840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[13] Ranganeni et al., Levels of Control for Blind Travelers, HRI, 2023.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010912"/>
            <a:ext cx="50749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D2B36"/>
                </a:solidFill>
                <a:latin typeface="Aptos"/>
              </a:rPr>
              <a:t>[14] Zhang et al., ARCore User-Centric Assistive Navigation, Applied Sciences, 2019.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61888"/>
            <a:ext cx="103327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B6C77"/>
                </a:solidFill>
                <a:latin typeface="Aptos"/>
              </a:rPr>
              <a:t>Full DOI links and formatted entries are retained in the written synopsis.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