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Inter"/>
      <p:regular r:id="rId16"/>
      <p:bold r:id="rId17"/>
      <p:boldItalic r:id="rId18"/>
    </p:embeddedFont>
    <p:embeddedFont>
      <p:font typeface="Playfair Display"/>
      <p:regular r:id="rId19"/>
      <p:bold r:id="rId20"/>
      <p:italic r:id="rId21"/>
      <p:boldItalic r:id="rId22"/>
    </p:embeddedFont>
    <p:embeddedFont>
      <p:font typeface="Noto Sans CJK SC"/>
      <p:regular r:id="rId23"/>
      <p:bold r:id="rId23"/>
    </p:embeddedFont>
    <p:embeddedFont>
      <p:font typeface="Noto Sans Devanagari"/>
      <p:regular r:id="rId24"/>
      <p:bold r:id="rId2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_1_Inter_Regular.fntdata"/><Relationship Id="rId17" Type="http://schemas.openxmlformats.org/officeDocument/2006/relationships/font" Target="fonts/Font_2_Inter_Bold.fntdata"/><Relationship Id="rId18" Type="http://schemas.openxmlformats.org/officeDocument/2006/relationships/font" Target="fonts/Font_3_Inter_BoldItalic.fntdata"/><Relationship Id="rId19" Type="http://schemas.openxmlformats.org/officeDocument/2006/relationships/font" Target="fonts/Font_4_Playfair_Display_Regular.fntdata"/><Relationship Id="rId20" Type="http://schemas.openxmlformats.org/officeDocument/2006/relationships/font" Target="fonts/Font_5_Playfair_Display_Bold.fntdata"/><Relationship Id="rId21" Type="http://schemas.openxmlformats.org/officeDocument/2006/relationships/font" Target="fonts/Font_6_Playfair_Display_Italic.fntdata"/><Relationship Id="rId22" Type="http://schemas.openxmlformats.org/officeDocument/2006/relationships/font" Target="fonts/Font_7_Playfair_Display_BoldItalic.fntdata"/><Relationship Id="rId23" Type="http://schemas.openxmlformats.org/officeDocument/2006/relationships/font" Target="fonts/Font_8_Noto_Sans_CJK_SC_Regular.fntdata"/><Relationship Id="rId24" Type="http://schemas.openxmlformats.org/officeDocument/2006/relationships/font" Target="fonts/Font_9_Noto_Sans_Devanagari_Regular.fntdata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1DF9E9-79A7-40ED-B893-A3E5D1AC84F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F3C48A-AC87-40C5-97E7-D2FA967F271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01D374-5648-4822-A624-4BE83733281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E3FE8B-C2A3-4D1A-A6BF-79E9AD45BF4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A6AC72-9EDF-43F4-8D3E-9728B5D6C6A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F267AE-F410-44D1-8447-66EAD16A73B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511C3B-B3B2-4FAB-B9DE-1C95FC7E10B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45E6A6-11FF-432E-98F9-E6DE0AA2C49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349199-9DC5-42CD-89E9-F9473E4F997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E2EAAD-A0A9-4E6E-9833-54F7C7CFD29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FD12833-EC57-40F6-9C23-F278AB60165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8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3"/>
          <p:cNvSpPr/>
          <p:nvPr/>
        </p:nvSpPr>
        <p:spPr>
          <a:xfrm>
            <a:off x="762120" y="3855600"/>
            <a:ext cx="10667520" cy="18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Google Shape;85;p13"/>
          <p:cNvSpPr/>
          <p:nvPr/>
        </p:nvSpPr>
        <p:spPr>
          <a:xfrm>
            <a:off x="762120" y="3855600"/>
            <a:ext cx="1066752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Google Shape;86;p13"/>
          <p:cNvSpPr/>
          <p:nvPr/>
        </p:nvSpPr>
        <p:spPr>
          <a:xfrm>
            <a:off x="762120" y="1764000"/>
            <a:ext cx="1142964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4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rgbClr val="F8FAFC"/>
                </a:solidFill>
                <a:effectLst/>
                <a:uFillTx/>
                <a:latin typeface="Playfair Display"/>
                <a:ea typeface="Playfair Display"/>
              </a:rPr>
              <a:t>ScholarGraph</a:t>
            </a:r>
            <a:endParaRPr lang="en-IN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3"/>
          <p:cNvSpPr/>
          <p:nvPr/>
        </p:nvSpPr>
        <p:spPr>
          <a:xfrm>
            <a:off x="762120" y="2872800"/>
            <a:ext cx="10715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2100" b="0" i="1" u="none" strike="noStrike">
                <a:solidFill>
                  <a:srgbClr val="CBD5E1"/>
                </a:solidFill>
                <a:effectLst/>
                <a:uFillTx/>
                <a:latin typeface="Playfair Display"/>
                <a:ea typeface="Playfair Display"/>
              </a:rPr>
              <a:t>Agentic AI Literature Review &amp; Research Gap Discovery</a:t>
            </a:r>
            <a:endParaRPr lang="en-IN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3"/>
          <p:cNvSpPr/>
          <p:nvPr/>
        </p:nvSpPr>
        <p:spPr>
          <a:xfrm>
            <a:off x="762120" y="4246200"/>
            <a:ext cx="45241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PROJECT TEAM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9;p13"/>
          <p:cNvSpPr/>
          <p:nvPr/>
        </p:nvSpPr>
        <p:spPr>
          <a:xfrm>
            <a:off x="5334120" y="4246200"/>
            <a:ext cx="6365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PROJECT GUIDE</a:t>
            </a: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           PROJECT CO-GUIDE</a:t>
            </a: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0;p13"/>
          <p:cNvSpPr/>
          <p:nvPr/>
        </p:nvSpPr>
        <p:spPr>
          <a:xfrm>
            <a:off x="5334120" y="4560480"/>
            <a:ext cx="67258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Inter"/>
                <a:ea typeface="Inter"/>
              </a:rPr>
              <a:t>Mr. Joyan Prajwal Alvares                           Mrs. Amruthashree V. M 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3"/>
          <p:cNvSpPr/>
          <p:nvPr/>
        </p:nvSpPr>
        <p:spPr>
          <a:xfrm>
            <a:off x="5334120" y="4884120"/>
            <a:ext cx="67258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Assistant Professor, Dept. of CS&amp;E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       Assistant Professor, Dept. of CS&amp;E</a:t>
            </a:r>
            <a:br>
              <a:rPr sz="1800"/>
            </a:b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NIE, Mysuru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                           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NIE, Mysuru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3"/>
          <p:cNvSpPr/>
          <p:nvPr/>
        </p:nvSpPr>
        <p:spPr>
          <a:xfrm>
            <a:off x="762120" y="4560480"/>
            <a:ext cx="45241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Mohammad Abuzaid </a:t>
            </a: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4NI23CS110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3"/>
          <p:cNvSpPr/>
          <p:nvPr/>
        </p:nvSpPr>
        <p:spPr>
          <a:xfrm>
            <a:off x="762120" y="4874760"/>
            <a:ext cx="45241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Mayank Vyas </a:t>
            </a: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4NI23CS106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3"/>
          <p:cNvSpPr/>
          <p:nvPr/>
        </p:nvSpPr>
        <p:spPr>
          <a:xfrm>
            <a:off x="762120" y="5189040"/>
            <a:ext cx="45241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Mohammed Farhan Tadpatri </a:t>
            </a: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4NI23CS112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5;p13"/>
          <p:cNvSpPr/>
          <p:nvPr/>
        </p:nvSpPr>
        <p:spPr>
          <a:xfrm>
            <a:off x="762120" y="5503320"/>
            <a:ext cx="45241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Harshit Kumar </a:t>
            </a: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4NI23CI039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100;p14"/>
          <p:cNvSpPr/>
          <p:nvPr/>
        </p:nvSpPr>
        <p:spPr>
          <a:xfrm>
            <a:off x="5580000" y="2828880"/>
            <a:ext cx="6120000" cy="2751120"/>
          </a:xfrm>
          <a:prstGeom prst="roundRect">
            <a:avLst>
              <a:gd name="adj" fmla="val 8362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Google Shape;101;p14" descr="image.png"/>
          <p:cNvPicPr/>
          <p:nvPr/>
        </p:nvPicPr>
        <p:blipFill>
          <a:blip r:embed="rId1"/>
          <a:stretch/>
        </p:blipFill>
        <p:spPr>
          <a:xfrm>
            <a:off x="8244000" y="3295800"/>
            <a:ext cx="76176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02;p14" descr="image.png"/>
          <p:cNvPicPr/>
          <p:nvPr/>
        </p:nvPicPr>
        <p:blipFill>
          <a:blip r:embed="rId2"/>
          <a:stretch/>
        </p:blipFill>
        <p:spPr>
          <a:xfrm>
            <a:off x="762120" y="395748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3;p14" descr="image.png"/>
          <p:cNvPicPr/>
          <p:nvPr/>
        </p:nvPicPr>
        <p:blipFill>
          <a:blip r:embed="rId3"/>
          <a:stretch/>
        </p:blipFill>
        <p:spPr>
          <a:xfrm>
            <a:off x="762120" y="4681440"/>
            <a:ext cx="17100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4;p14"/>
          <p:cNvSpPr/>
          <p:nvPr/>
        </p:nvSpPr>
        <p:spPr>
          <a:xfrm>
            <a:off x="762120" y="7621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INTRODUCTION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5;p14"/>
          <p:cNvSpPr/>
          <p:nvPr/>
        </p:nvSpPr>
        <p:spPr>
          <a:xfrm>
            <a:off x="762120" y="1076400"/>
            <a:ext cx="114296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What is ScholarGraph?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6;p14"/>
          <p:cNvSpPr/>
          <p:nvPr/>
        </p:nvSpPr>
        <p:spPr>
          <a:xfrm>
            <a:off x="762120" y="2519280"/>
            <a:ext cx="477180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An </a:t>
            </a:r>
            <a:r>
              <a:rPr lang="en-US" sz="18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agentic AI platform</a:t>
            </a:r>
            <a:r>
              <a:rPr lang="en-US" sz="18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that simplifies and automates the academic literature review process from start to finish.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7;p14"/>
          <p:cNvSpPr/>
          <p:nvPr/>
        </p:nvSpPr>
        <p:spPr>
          <a:xfrm>
            <a:off x="6737760" y="4133880"/>
            <a:ext cx="37738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Automated Assistance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8;p14"/>
          <p:cNvSpPr/>
          <p:nvPr/>
        </p:nvSpPr>
        <p:spPr>
          <a:xfrm>
            <a:off x="5702040" y="4695840"/>
            <a:ext cx="5845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Reduces weeks of manual searching and compiling into an autonomous workflow.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9;p14"/>
          <p:cNvSpPr/>
          <p:nvPr/>
        </p:nvSpPr>
        <p:spPr>
          <a:xfrm>
            <a:off x="1143000" y="3929040"/>
            <a:ext cx="43905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Retrieves papers</a:t>
            </a: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 automatically from multiple scholarly databases.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0;p14"/>
          <p:cNvSpPr/>
          <p:nvPr/>
        </p:nvSpPr>
        <p:spPr>
          <a:xfrm>
            <a:off x="1085760" y="4653000"/>
            <a:ext cx="44478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Extracts key data</a:t>
            </a: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 (methods, metrics, datasets) using LLMs.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1;p14"/>
          <p:cNvSpPr/>
          <p:nvPr/>
        </p:nvSpPr>
        <p:spPr>
          <a:xfrm>
            <a:off x="914400" y="5376960"/>
            <a:ext cx="46191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Identifies research gaps</a:t>
            </a: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 by mapping citation connections.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16;p15"/>
          <p:cNvSpPr/>
          <p:nvPr/>
        </p:nvSpPr>
        <p:spPr>
          <a:xfrm>
            <a:off x="762120" y="206676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Google Shape;117;p15"/>
          <p:cNvSpPr/>
          <p:nvPr/>
        </p:nvSpPr>
        <p:spPr>
          <a:xfrm>
            <a:off x="762120" y="305748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Google Shape;118;p15"/>
          <p:cNvSpPr/>
          <p:nvPr/>
        </p:nvSpPr>
        <p:spPr>
          <a:xfrm>
            <a:off x="762120" y="404820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Google Shape;119;p15"/>
          <p:cNvSpPr/>
          <p:nvPr/>
        </p:nvSpPr>
        <p:spPr>
          <a:xfrm>
            <a:off x="762120" y="503856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Google Shape;120;p15"/>
          <p:cNvSpPr/>
          <p:nvPr/>
        </p:nvSpPr>
        <p:spPr>
          <a:xfrm>
            <a:off x="762120" y="602928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Google Shape;121;p15"/>
          <p:cNvSpPr/>
          <p:nvPr/>
        </p:nvSpPr>
        <p:spPr>
          <a:xfrm>
            <a:off x="6286680" y="206676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Google Shape;122;p15"/>
          <p:cNvSpPr/>
          <p:nvPr/>
        </p:nvSpPr>
        <p:spPr>
          <a:xfrm>
            <a:off x="6286680" y="305748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Google Shape;123;p15"/>
          <p:cNvSpPr/>
          <p:nvPr/>
        </p:nvSpPr>
        <p:spPr>
          <a:xfrm>
            <a:off x="6286680" y="404820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Google Shape;124;p15"/>
          <p:cNvSpPr/>
          <p:nvPr/>
        </p:nvSpPr>
        <p:spPr>
          <a:xfrm>
            <a:off x="6286680" y="503856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Google Shape;125;p15"/>
          <p:cNvSpPr/>
          <p:nvPr/>
        </p:nvSpPr>
        <p:spPr>
          <a:xfrm>
            <a:off x="6286680" y="6029280"/>
            <a:ext cx="5143320" cy="79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Google Shape;126;p15"/>
          <p:cNvSpPr/>
          <p:nvPr/>
        </p:nvSpPr>
        <p:spPr>
          <a:xfrm>
            <a:off x="762120" y="28576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Google Shape;127;p15"/>
          <p:cNvSpPr/>
          <p:nvPr/>
        </p:nvSpPr>
        <p:spPr>
          <a:xfrm>
            <a:off x="762120" y="206676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Google Shape;128;p15"/>
          <p:cNvSpPr/>
          <p:nvPr/>
        </p:nvSpPr>
        <p:spPr>
          <a:xfrm>
            <a:off x="762120" y="206676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Google Shape;129;p15"/>
          <p:cNvSpPr/>
          <p:nvPr/>
        </p:nvSpPr>
        <p:spPr>
          <a:xfrm>
            <a:off x="5896080" y="206676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Google Shape;130;p15"/>
          <p:cNvSpPr/>
          <p:nvPr/>
        </p:nvSpPr>
        <p:spPr>
          <a:xfrm>
            <a:off x="762120" y="384804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Google Shape;131;p15"/>
          <p:cNvSpPr/>
          <p:nvPr/>
        </p:nvSpPr>
        <p:spPr>
          <a:xfrm>
            <a:off x="762120" y="30574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Google Shape;132;p15"/>
          <p:cNvSpPr/>
          <p:nvPr/>
        </p:nvSpPr>
        <p:spPr>
          <a:xfrm>
            <a:off x="762120" y="305748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Google Shape;133;p15"/>
          <p:cNvSpPr/>
          <p:nvPr/>
        </p:nvSpPr>
        <p:spPr>
          <a:xfrm>
            <a:off x="5896080" y="305748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Google Shape;134;p15"/>
          <p:cNvSpPr/>
          <p:nvPr/>
        </p:nvSpPr>
        <p:spPr>
          <a:xfrm>
            <a:off x="762120" y="483876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Google Shape;135;p15"/>
          <p:cNvSpPr/>
          <p:nvPr/>
        </p:nvSpPr>
        <p:spPr>
          <a:xfrm>
            <a:off x="762120" y="404820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Google Shape;136;p15"/>
          <p:cNvSpPr/>
          <p:nvPr/>
        </p:nvSpPr>
        <p:spPr>
          <a:xfrm>
            <a:off x="762120" y="404820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Google Shape;137;p15"/>
          <p:cNvSpPr/>
          <p:nvPr/>
        </p:nvSpPr>
        <p:spPr>
          <a:xfrm>
            <a:off x="5896080" y="404820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Google Shape;138;p15"/>
          <p:cNvSpPr/>
          <p:nvPr/>
        </p:nvSpPr>
        <p:spPr>
          <a:xfrm>
            <a:off x="762120" y="58294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Google Shape;139;p15"/>
          <p:cNvSpPr/>
          <p:nvPr/>
        </p:nvSpPr>
        <p:spPr>
          <a:xfrm>
            <a:off x="762120" y="503856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Google Shape;140;p15"/>
          <p:cNvSpPr/>
          <p:nvPr/>
        </p:nvSpPr>
        <p:spPr>
          <a:xfrm>
            <a:off x="762120" y="503856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Google Shape;141;p15"/>
          <p:cNvSpPr/>
          <p:nvPr/>
        </p:nvSpPr>
        <p:spPr>
          <a:xfrm>
            <a:off x="5896080" y="503856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Google Shape;142;p15"/>
          <p:cNvSpPr/>
          <p:nvPr/>
        </p:nvSpPr>
        <p:spPr>
          <a:xfrm>
            <a:off x="762120" y="681984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Google Shape;143;p15"/>
          <p:cNvSpPr/>
          <p:nvPr/>
        </p:nvSpPr>
        <p:spPr>
          <a:xfrm>
            <a:off x="762120" y="60292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Google Shape;144;p15"/>
          <p:cNvSpPr/>
          <p:nvPr/>
        </p:nvSpPr>
        <p:spPr>
          <a:xfrm>
            <a:off x="762120" y="602928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Google Shape;145;p15"/>
          <p:cNvSpPr/>
          <p:nvPr/>
        </p:nvSpPr>
        <p:spPr>
          <a:xfrm>
            <a:off x="5896080" y="602928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Google Shape;146;p15"/>
          <p:cNvSpPr/>
          <p:nvPr/>
        </p:nvSpPr>
        <p:spPr>
          <a:xfrm>
            <a:off x="6286680" y="28576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Google Shape;147;p15"/>
          <p:cNvSpPr/>
          <p:nvPr/>
        </p:nvSpPr>
        <p:spPr>
          <a:xfrm>
            <a:off x="6286680" y="206676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Google Shape;148;p15"/>
          <p:cNvSpPr/>
          <p:nvPr/>
        </p:nvSpPr>
        <p:spPr>
          <a:xfrm>
            <a:off x="6286680" y="206676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Google Shape;149;p15"/>
          <p:cNvSpPr/>
          <p:nvPr/>
        </p:nvSpPr>
        <p:spPr>
          <a:xfrm>
            <a:off x="11420640" y="206676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Google Shape;150;p15"/>
          <p:cNvSpPr/>
          <p:nvPr/>
        </p:nvSpPr>
        <p:spPr>
          <a:xfrm>
            <a:off x="6286680" y="384804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Google Shape;151;p15"/>
          <p:cNvSpPr/>
          <p:nvPr/>
        </p:nvSpPr>
        <p:spPr>
          <a:xfrm>
            <a:off x="6286680" y="30574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Google Shape;152;p15"/>
          <p:cNvSpPr/>
          <p:nvPr/>
        </p:nvSpPr>
        <p:spPr>
          <a:xfrm>
            <a:off x="6286680" y="305748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Google Shape;153;p15"/>
          <p:cNvSpPr/>
          <p:nvPr/>
        </p:nvSpPr>
        <p:spPr>
          <a:xfrm>
            <a:off x="11420640" y="305748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Google Shape;154;p15"/>
          <p:cNvSpPr/>
          <p:nvPr/>
        </p:nvSpPr>
        <p:spPr>
          <a:xfrm>
            <a:off x="6286680" y="483876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Google Shape;155;p15"/>
          <p:cNvSpPr/>
          <p:nvPr/>
        </p:nvSpPr>
        <p:spPr>
          <a:xfrm>
            <a:off x="6286680" y="404820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Google Shape;156;p15"/>
          <p:cNvSpPr/>
          <p:nvPr/>
        </p:nvSpPr>
        <p:spPr>
          <a:xfrm>
            <a:off x="6286680" y="404820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Google Shape;157;p15"/>
          <p:cNvSpPr/>
          <p:nvPr/>
        </p:nvSpPr>
        <p:spPr>
          <a:xfrm>
            <a:off x="11420640" y="404820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Google Shape;158;p15"/>
          <p:cNvSpPr/>
          <p:nvPr/>
        </p:nvSpPr>
        <p:spPr>
          <a:xfrm>
            <a:off x="6286680" y="58294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Google Shape;159;p15"/>
          <p:cNvSpPr/>
          <p:nvPr/>
        </p:nvSpPr>
        <p:spPr>
          <a:xfrm>
            <a:off x="6286680" y="503856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Google Shape;160;p15"/>
          <p:cNvSpPr/>
          <p:nvPr/>
        </p:nvSpPr>
        <p:spPr>
          <a:xfrm>
            <a:off x="6286680" y="503856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Google Shape;161;p15"/>
          <p:cNvSpPr/>
          <p:nvPr/>
        </p:nvSpPr>
        <p:spPr>
          <a:xfrm>
            <a:off x="11420640" y="503856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Google Shape;162;p15"/>
          <p:cNvSpPr/>
          <p:nvPr/>
        </p:nvSpPr>
        <p:spPr>
          <a:xfrm>
            <a:off x="6286680" y="681984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Google Shape;163;p15"/>
          <p:cNvSpPr/>
          <p:nvPr/>
        </p:nvSpPr>
        <p:spPr>
          <a:xfrm>
            <a:off x="6286680" y="6029280"/>
            <a:ext cx="5143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Google Shape;164;p15"/>
          <p:cNvSpPr/>
          <p:nvPr/>
        </p:nvSpPr>
        <p:spPr>
          <a:xfrm>
            <a:off x="6286680" y="6029280"/>
            <a:ext cx="37800" cy="799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Google Shape;165;p15"/>
          <p:cNvSpPr/>
          <p:nvPr/>
        </p:nvSpPr>
        <p:spPr>
          <a:xfrm>
            <a:off x="11420640" y="6029280"/>
            <a:ext cx="9000" cy="7999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Google Shape;166;p15"/>
          <p:cNvSpPr/>
          <p:nvPr/>
        </p:nvSpPr>
        <p:spPr>
          <a:xfrm>
            <a:off x="762120" y="7621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LITERATURE SURVEY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7;p15"/>
          <p:cNvSpPr/>
          <p:nvPr/>
        </p:nvSpPr>
        <p:spPr>
          <a:xfrm>
            <a:off x="762120" y="1076400"/>
            <a:ext cx="11429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Foundational Research Papers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68;p15"/>
          <p:cNvSpPr/>
          <p:nvPr/>
        </p:nvSpPr>
        <p:spPr>
          <a:xfrm>
            <a:off x="990720" y="2266920"/>
            <a:ext cx="5893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Silva-Fuentes et al. (2019)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69;p15"/>
          <p:cNvSpPr/>
          <p:nvPr/>
        </p:nvSpPr>
        <p:spPr>
          <a:xfrm>
            <a:off x="990720" y="2467080"/>
            <a:ext cx="58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Semantic Search System using Word Embeddings.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0;p15"/>
          <p:cNvSpPr/>
          <p:nvPr/>
        </p:nvSpPr>
        <p:spPr>
          <a:xfrm>
            <a:off x="990720" y="3257640"/>
            <a:ext cx="5893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Kalla et al. (2023)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1;p15"/>
          <p:cNvSpPr/>
          <p:nvPr/>
        </p:nvSpPr>
        <p:spPr>
          <a:xfrm>
            <a:off x="990720" y="3457440"/>
            <a:ext cx="58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Scientific Knowledge Graph Creation and Analysis.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2;p15"/>
          <p:cNvSpPr/>
          <p:nvPr/>
        </p:nvSpPr>
        <p:spPr>
          <a:xfrm>
            <a:off x="990720" y="4248000"/>
            <a:ext cx="5893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Pozzobon &amp; Pinheiro (2024)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3;p15"/>
          <p:cNvSpPr/>
          <p:nvPr/>
        </p:nvSpPr>
        <p:spPr>
          <a:xfrm>
            <a:off x="990720" y="4448160"/>
            <a:ext cx="58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RAAI: Literature Review Assistant with LLMs.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4;p15"/>
          <p:cNvSpPr/>
          <p:nvPr/>
        </p:nvSpPr>
        <p:spPr>
          <a:xfrm>
            <a:off x="990720" y="5238720"/>
            <a:ext cx="5893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Procko &amp; Ochoa (2024)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5;p15"/>
          <p:cNvSpPr/>
          <p:nvPr/>
        </p:nvSpPr>
        <p:spPr>
          <a:xfrm>
            <a:off x="990720" y="5438880"/>
            <a:ext cx="58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Graph RAG for Large Language Models.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6;p15"/>
          <p:cNvSpPr/>
          <p:nvPr/>
        </p:nvSpPr>
        <p:spPr>
          <a:xfrm>
            <a:off x="990720" y="6229440"/>
            <a:ext cx="5893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Ibn Ahad et al. (2024)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7;p15"/>
          <p:cNvSpPr/>
          <p:nvPr/>
        </p:nvSpPr>
        <p:spPr>
          <a:xfrm>
            <a:off x="990720" y="6429240"/>
            <a:ext cx="58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Leveraging LLMs for Scientific Meta-Analysis.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78;p15"/>
          <p:cNvSpPr/>
          <p:nvPr/>
        </p:nvSpPr>
        <p:spPr>
          <a:xfrm>
            <a:off x="6515280" y="2266920"/>
            <a:ext cx="56764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Silva &amp; Wickramarachchi (2025)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79;p15"/>
          <p:cNvSpPr/>
          <p:nvPr/>
        </p:nvSpPr>
        <p:spPr>
          <a:xfrm>
            <a:off x="6515280" y="2467080"/>
            <a:ext cx="5676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Evaluating LLM-Based Tools Across SLR Stages.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0;p15"/>
          <p:cNvSpPr/>
          <p:nvPr/>
        </p:nvSpPr>
        <p:spPr>
          <a:xfrm>
            <a:off x="6515280" y="3257640"/>
            <a:ext cx="56764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Zheng et al. (2025)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81;p15"/>
          <p:cNvSpPr/>
          <p:nvPr/>
        </p:nvSpPr>
        <p:spPr>
          <a:xfrm>
            <a:off x="6515280" y="3457440"/>
            <a:ext cx="5676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Information-Constrained Literature Retrieval via Agents.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82;p15"/>
          <p:cNvSpPr/>
          <p:nvPr/>
        </p:nvSpPr>
        <p:spPr>
          <a:xfrm>
            <a:off x="6515280" y="4248000"/>
            <a:ext cx="56764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Al Azher et al. (2025)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3;p15"/>
          <p:cNvSpPr/>
          <p:nvPr/>
        </p:nvSpPr>
        <p:spPr>
          <a:xfrm>
            <a:off x="6515280" y="4448160"/>
            <a:ext cx="5676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FutureGen: RAG-based Future Work Generation.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84;p15"/>
          <p:cNvSpPr/>
          <p:nvPr/>
        </p:nvSpPr>
        <p:spPr>
          <a:xfrm>
            <a:off x="6515280" y="5238720"/>
            <a:ext cx="56764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Gao et al. (2023)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85;p15"/>
          <p:cNvSpPr/>
          <p:nvPr/>
        </p:nvSpPr>
        <p:spPr>
          <a:xfrm>
            <a:off x="6515280" y="5438880"/>
            <a:ext cx="5676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Retrieval-Augmented Generation: A Survey.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86;p15"/>
          <p:cNvSpPr/>
          <p:nvPr/>
        </p:nvSpPr>
        <p:spPr>
          <a:xfrm>
            <a:off x="6515280" y="6229440"/>
            <a:ext cx="56764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Lála et al. (2023)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87;p15"/>
          <p:cNvSpPr/>
          <p:nvPr/>
        </p:nvSpPr>
        <p:spPr>
          <a:xfrm>
            <a:off x="6515280" y="6429240"/>
            <a:ext cx="5676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PaperQA: Retrieval-Augmented Generative Agent.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92;p16"/>
          <p:cNvSpPr/>
          <p:nvPr/>
        </p:nvSpPr>
        <p:spPr>
          <a:xfrm>
            <a:off x="762120" y="60948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LITERATURE SURVEY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3;p16"/>
          <p:cNvSpPr/>
          <p:nvPr/>
        </p:nvSpPr>
        <p:spPr>
          <a:xfrm>
            <a:off x="762120" y="923760"/>
            <a:ext cx="11429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Key Contributions &amp; Relevance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4;p16"/>
          <p:cNvSpPr/>
          <p:nvPr/>
        </p:nvSpPr>
        <p:spPr>
          <a:xfrm>
            <a:off x="762120" y="191448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Silva-Fuentes et al.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5;p16"/>
          <p:cNvSpPr/>
          <p:nvPr/>
        </p:nvSpPr>
        <p:spPr>
          <a:xfrm>
            <a:off x="2514600" y="1914480"/>
            <a:ext cx="90104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Validates word embeddings for semantic search over exact-keyword matching. </a:t>
            </a: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Foundation for ScholarGraph's ChromaDB vector retrieval.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6;p16"/>
          <p:cNvSpPr/>
          <p:nvPr/>
        </p:nvSpPr>
        <p:spPr>
          <a:xfrm>
            <a:off x="762120" y="265536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Kalla et al.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97;p16"/>
          <p:cNvSpPr/>
          <p:nvPr/>
        </p:nvSpPr>
        <p:spPr>
          <a:xfrm>
            <a:off x="2514600" y="2655360"/>
            <a:ext cx="90104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Constructs academic knowledge graphs utilizing centrality metrics for node importance. </a:t>
            </a: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Basis for our NetworkX citation topology.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98;p16"/>
          <p:cNvSpPr/>
          <p:nvPr/>
        </p:nvSpPr>
        <p:spPr>
          <a:xfrm>
            <a:off x="762120" y="339624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Pozzobon &amp; Pinheiro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99;p16"/>
          <p:cNvSpPr/>
          <p:nvPr/>
        </p:nvSpPr>
        <p:spPr>
          <a:xfrm>
            <a:off x="2514600" y="3396240"/>
            <a:ext cx="90104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Demonstrates multi-database ingestion (IEEE, arXiv) via LLMs. </a:t>
            </a: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ScholarGraph extends this with full PDF parsing and graph visualization.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00;p16"/>
          <p:cNvSpPr/>
          <p:nvPr/>
        </p:nvSpPr>
        <p:spPr>
          <a:xfrm>
            <a:off x="762120" y="413712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Ibn Ahad et al.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1;p16"/>
          <p:cNvSpPr/>
          <p:nvPr/>
        </p:nvSpPr>
        <p:spPr>
          <a:xfrm>
            <a:off x="2514600" y="4137120"/>
            <a:ext cx="90104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Investigates LLMs for cross-paper scientific synthesis and tabular comparative extraction. </a:t>
            </a: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Directly implemented in our Synthesis Agent.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2;p16"/>
          <p:cNvSpPr/>
          <p:nvPr/>
        </p:nvSpPr>
        <p:spPr>
          <a:xfrm>
            <a:off x="762120" y="487800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Zheng et al.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3;p16"/>
          <p:cNvSpPr/>
          <p:nvPr/>
        </p:nvSpPr>
        <p:spPr>
          <a:xfrm>
            <a:off x="2514600" y="4878000"/>
            <a:ext cx="90104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Uses LLM agents for dynamic ranking and query decomposition to improve relevance. </a:t>
            </a: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Inspires the ScholarGraph Planner Agent workflow.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4;p16"/>
          <p:cNvSpPr/>
          <p:nvPr/>
        </p:nvSpPr>
        <p:spPr>
          <a:xfrm>
            <a:off x="762120" y="561888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Lála et al. (PaperQA)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5;p16"/>
          <p:cNvSpPr/>
          <p:nvPr/>
        </p:nvSpPr>
        <p:spPr>
          <a:xfrm>
            <a:off x="2514600" y="5618880"/>
            <a:ext cx="90104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Shows citation-grounded LLM generation eliminates scientific hallucination. </a:t>
            </a: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Adopted for bracketed sentence-level citations.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210;p17"/>
          <p:cNvSpPr/>
          <p:nvPr/>
        </p:nvSpPr>
        <p:spPr>
          <a:xfrm>
            <a:off x="1809720" y="2975760"/>
            <a:ext cx="8572320" cy="24397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Google Shape;211;p17"/>
          <p:cNvSpPr/>
          <p:nvPr/>
        </p:nvSpPr>
        <p:spPr>
          <a:xfrm>
            <a:off x="1809720" y="2975760"/>
            <a:ext cx="75960" cy="2439720"/>
          </a:xfrm>
          <a:prstGeom prst="rect">
            <a:avLst/>
          </a:prstGeom>
          <a:solidFill>
            <a:srgbClr val="E11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Google Shape;212;p17" descr="image.png"/>
          <p:cNvPicPr/>
          <p:nvPr/>
        </p:nvPicPr>
        <p:blipFill>
          <a:blip r:embed="rId1"/>
          <a:stretch/>
        </p:blipFill>
        <p:spPr>
          <a:xfrm>
            <a:off x="2343240" y="4782240"/>
            <a:ext cx="1141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Google Shape;213;p17" descr="image.png"/>
          <p:cNvPicPr/>
          <p:nvPr/>
        </p:nvPicPr>
        <p:blipFill>
          <a:blip r:embed="rId2"/>
          <a:stretch/>
        </p:blipFill>
        <p:spPr>
          <a:xfrm>
            <a:off x="4686480" y="4782240"/>
            <a:ext cx="1141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Google Shape;214;p17" descr="image.png"/>
          <p:cNvPicPr/>
          <p:nvPr/>
        </p:nvPicPr>
        <p:blipFill>
          <a:blip r:embed="rId3"/>
          <a:stretch/>
        </p:blipFill>
        <p:spPr>
          <a:xfrm>
            <a:off x="7058160" y="4782240"/>
            <a:ext cx="1141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Google Shape;215;p17"/>
          <p:cNvSpPr/>
          <p:nvPr/>
        </p:nvSpPr>
        <p:spPr>
          <a:xfrm>
            <a:off x="762120" y="7621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RESEARCH GAP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6;p17"/>
          <p:cNvSpPr/>
          <p:nvPr/>
        </p:nvSpPr>
        <p:spPr>
          <a:xfrm>
            <a:off x="762120" y="1076400"/>
            <a:ext cx="11429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The Need for Integration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7;p17"/>
          <p:cNvSpPr/>
          <p:nvPr/>
        </p:nvSpPr>
        <p:spPr>
          <a:xfrm>
            <a:off x="2343240" y="3432960"/>
            <a:ext cx="76766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While tools exist for isolated tasks, there is no unified system that combines </a:t>
            </a: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multi-source retrieval</a:t>
            </a:r>
            <a:r>
              <a:rPr lang="en-US" sz="18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, </a:t>
            </a: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semantic search</a:t>
            </a:r>
            <a:r>
              <a:rPr lang="en-US" sz="18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, </a:t>
            </a: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LLM synthesis</a:t>
            </a:r>
            <a:r>
              <a:rPr lang="en-US" sz="18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, and </a:t>
            </a: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graph-based gap discovery</a:t>
            </a:r>
            <a:r>
              <a:rPr lang="en-US" sz="18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 into a single workflow.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18;p17"/>
          <p:cNvSpPr/>
          <p:nvPr/>
        </p:nvSpPr>
        <p:spPr>
          <a:xfrm>
            <a:off x="2533680" y="4758480"/>
            <a:ext cx="2404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Fragmented Toolchains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19;p17"/>
          <p:cNvSpPr/>
          <p:nvPr/>
        </p:nvSpPr>
        <p:spPr>
          <a:xfrm>
            <a:off x="4876920" y="4758480"/>
            <a:ext cx="2440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Subjective Gap Analysis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20;p17"/>
          <p:cNvSpPr/>
          <p:nvPr/>
        </p:nvSpPr>
        <p:spPr>
          <a:xfrm>
            <a:off x="7248600" y="4758480"/>
            <a:ext cx="2190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Manual Deduplication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25;p18"/>
          <p:cNvSpPr/>
          <p:nvPr/>
        </p:nvSpPr>
        <p:spPr>
          <a:xfrm>
            <a:off x="762120" y="2143080"/>
            <a:ext cx="5143320" cy="395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Google Shape;226;p18"/>
          <p:cNvSpPr/>
          <p:nvPr/>
        </p:nvSpPr>
        <p:spPr>
          <a:xfrm>
            <a:off x="6286680" y="2143080"/>
            <a:ext cx="5143320" cy="395244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Google Shape;227;p18"/>
          <p:cNvSpPr/>
          <p:nvPr/>
        </p:nvSpPr>
        <p:spPr>
          <a:xfrm>
            <a:off x="1152360" y="3038400"/>
            <a:ext cx="43621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Google Shape;228;p18"/>
          <p:cNvSpPr/>
          <p:nvPr/>
        </p:nvSpPr>
        <p:spPr>
          <a:xfrm>
            <a:off x="6676920" y="3038400"/>
            <a:ext cx="4362120" cy="18720"/>
          </a:xfrm>
          <a:prstGeom prst="rect">
            <a:avLst/>
          </a:prstGeom>
          <a:solidFill>
            <a:srgbClr val="BFD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6" name="Google Shape;229;p18" descr="image.png"/>
          <p:cNvPicPr/>
          <p:nvPr/>
        </p:nvPicPr>
        <p:blipFill>
          <a:blip r:embed="rId1"/>
          <a:stretch/>
        </p:blipFill>
        <p:spPr>
          <a:xfrm>
            <a:off x="1152360" y="3743280"/>
            <a:ext cx="14256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Google Shape;230;p18" descr="image.png"/>
          <p:cNvPicPr/>
          <p:nvPr/>
        </p:nvPicPr>
        <p:blipFill>
          <a:blip r:embed="rId2"/>
          <a:stretch/>
        </p:blipFill>
        <p:spPr>
          <a:xfrm>
            <a:off x="1152360" y="4334040"/>
            <a:ext cx="14256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oogle Shape;231;p18" descr="image.png"/>
          <p:cNvPicPr/>
          <p:nvPr/>
        </p:nvPicPr>
        <p:blipFill>
          <a:blip r:embed="rId3"/>
          <a:stretch/>
        </p:blipFill>
        <p:spPr>
          <a:xfrm>
            <a:off x="1152360" y="4924440"/>
            <a:ext cx="14256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Google Shape;232;p18" descr="image.png"/>
          <p:cNvPicPr/>
          <p:nvPr/>
        </p:nvPicPr>
        <p:blipFill>
          <a:blip r:embed="rId4"/>
          <a:stretch/>
        </p:blipFill>
        <p:spPr>
          <a:xfrm>
            <a:off x="6676920" y="374328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Google Shape;233;p18" descr="image.png"/>
          <p:cNvPicPr/>
          <p:nvPr/>
        </p:nvPicPr>
        <p:blipFill>
          <a:blip r:embed="rId5"/>
          <a:stretch/>
        </p:blipFill>
        <p:spPr>
          <a:xfrm>
            <a:off x="6676920" y="433404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Google Shape;234;p18" descr="image.png"/>
          <p:cNvPicPr/>
          <p:nvPr/>
        </p:nvPicPr>
        <p:blipFill>
          <a:blip r:embed="rId6"/>
          <a:stretch/>
        </p:blipFill>
        <p:spPr>
          <a:xfrm>
            <a:off x="6676920" y="492444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Google Shape;235;p18"/>
          <p:cNvSpPr/>
          <p:nvPr/>
        </p:nvSpPr>
        <p:spPr>
          <a:xfrm>
            <a:off x="762120" y="7621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EXISTING VS. PROPOSED SYSTEM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6;p18"/>
          <p:cNvSpPr/>
          <p:nvPr/>
        </p:nvSpPr>
        <p:spPr>
          <a:xfrm>
            <a:off x="762120" y="1076400"/>
            <a:ext cx="11429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Workflow Transformation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7;p18"/>
          <p:cNvSpPr/>
          <p:nvPr/>
        </p:nvSpPr>
        <p:spPr>
          <a:xfrm>
            <a:off x="1152360" y="2533680"/>
            <a:ext cx="4680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Existing Solutions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38;p18"/>
          <p:cNvSpPr/>
          <p:nvPr/>
        </p:nvSpPr>
        <p:spPr>
          <a:xfrm>
            <a:off x="1152360" y="3209760"/>
            <a:ext cx="5452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Tools like SciSpace, Elicit, Consensus, and Litmaps.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39;p18"/>
          <p:cNvSpPr/>
          <p:nvPr/>
        </p:nvSpPr>
        <p:spPr>
          <a:xfrm>
            <a:off x="6676920" y="2533680"/>
            <a:ext cx="4680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3A8A"/>
                </a:solidFill>
                <a:effectLst/>
                <a:uFillTx/>
                <a:latin typeface="Playfair Display"/>
                <a:ea typeface="Playfair Display"/>
              </a:rPr>
              <a:t>Proposed: ScholarGraph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40;p18"/>
          <p:cNvSpPr/>
          <p:nvPr/>
        </p:nvSpPr>
        <p:spPr>
          <a:xfrm>
            <a:off x="6676920" y="3209760"/>
            <a:ext cx="5452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3B82F6"/>
                </a:solidFill>
                <a:effectLst/>
                <a:uFillTx/>
                <a:latin typeface="Inter"/>
                <a:ea typeface="Inter"/>
              </a:rPr>
              <a:t>End-to-end agentic workflow.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41;p18"/>
          <p:cNvSpPr/>
          <p:nvPr/>
        </p:nvSpPr>
        <p:spPr>
          <a:xfrm>
            <a:off x="1447920" y="3705120"/>
            <a:ext cx="4161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Single-Source Limits: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Rely heavily on isolated databases (e.g., Semantic Scholar only).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2;p18"/>
          <p:cNvSpPr/>
          <p:nvPr/>
        </p:nvSpPr>
        <p:spPr>
          <a:xfrm>
            <a:off x="1447920" y="4295880"/>
            <a:ext cx="4161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Abstract-Only Focus: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High hallucination risk without full-PDF parsing.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3;p18"/>
          <p:cNvSpPr/>
          <p:nvPr/>
        </p:nvSpPr>
        <p:spPr>
          <a:xfrm>
            <a:off x="1447920" y="4886280"/>
            <a:ext cx="4161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Subjective Analysis: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Gaps rely on human intuition or speculative LLM text.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4;p18"/>
          <p:cNvSpPr/>
          <p:nvPr/>
        </p:nvSpPr>
        <p:spPr>
          <a:xfrm>
            <a:off x="6962760" y="3705120"/>
            <a:ext cx="4171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Unified Corpus: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 Concurrent ingestion from arXiv, IEEE Xplore, and Semantic Scholar.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45;p18"/>
          <p:cNvSpPr/>
          <p:nvPr/>
        </p:nvSpPr>
        <p:spPr>
          <a:xfrm>
            <a:off x="6962760" y="4295880"/>
            <a:ext cx="4171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Targeted Extraction: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 PyMuPDF + LLM isolates methods/datasets with quote grounding.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46;p18"/>
          <p:cNvSpPr/>
          <p:nvPr/>
        </p:nvSpPr>
        <p:spPr>
          <a:xfrm>
            <a:off x="6962760" y="4886280"/>
            <a:ext cx="4171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Empirical Gaps: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 Identifies under-explored areas using NetworkX citation density.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51;p19"/>
          <p:cNvSpPr/>
          <p:nvPr/>
        </p:nvSpPr>
        <p:spPr>
          <a:xfrm>
            <a:off x="762120" y="2714760"/>
            <a:ext cx="5028840" cy="187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Google Shape;252;p19"/>
          <p:cNvSpPr/>
          <p:nvPr/>
        </p:nvSpPr>
        <p:spPr>
          <a:xfrm>
            <a:off x="6400800" y="2714760"/>
            <a:ext cx="5028840" cy="187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Google Shape;253;p19"/>
          <p:cNvSpPr/>
          <p:nvPr/>
        </p:nvSpPr>
        <p:spPr>
          <a:xfrm>
            <a:off x="762120" y="3462480"/>
            <a:ext cx="17596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Google Shape;254;p19"/>
          <p:cNvSpPr/>
          <p:nvPr/>
        </p:nvSpPr>
        <p:spPr>
          <a:xfrm>
            <a:off x="2522160" y="3462480"/>
            <a:ext cx="326880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Google Shape;255;p19"/>
          <p:cNvSpPr/>
          <p:nvPr/>
        </p:nvSpPr>
        <p:spPr>
          <a:xfrm>
            <a:off x="6400800" y="3462480"/>
            <a:ext cx="17596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Google Shape;256;p19"/>
          <p:cNvSpPr/>
          <p:nvPr/>
        </p:nvSpPr>
        <p:spPr>
          <a:xfrm>
            <a:off x="8160840" y="3462480"/>
            <a:ext cx="326880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Google Shape;257;p19"/>
          <p:cNvSpPr/>
          <p:nvPr/>
        </p:nvSpPr>
        <p:spPr>
          <a:xfrm>
            <a:off x="762120" y="3976560"/>
            <a:ext cx="17596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Google Shape;258;p19"/>
          <p:cNvSpPr/>
          <p:nvPr/>
        </p:nvSpPr>
        <p:spPr>
          <a:xfrm>
            <a:off x="2522160" y="3976560"/>
            <a:ext cx="326880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Google Shape;259;p19"/>
          <p:cNvSpPr/>
          <p:nvPr/>
        </p:nvSpPr>
        <p:spPr>
          <a:xfrm>
            <a:off x="762120" y="4491000"/>
            <a:ext cx="17596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Google Shape;260;p19"/>
          <p:cNvSpPr/>
          <p:nvPr/>
        </p:nvSpPr>
        <p:spPr>
          <a:xfrm>
            <a:off x="2522160" y="4491000"/>
            <a:ext cx="326880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Google Shape;261;p19"/>
          <p:cNvSpPr/>
          <p:nvPr/>
        </p:nvSpPr>
        <p:spPr>
          <a:xfrm>
            <a:off x="6400800" y="3976560"/>
            <a:ext cx="17596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Google Shape;262;p19"/>
          <p:cNvSpPr/>
          <p:nvPr/>
        </p:nvSpPr>
        <p:spPr>
          <a:xfrm>
            <a:off x="8160840" y="3976560"/>
            <a:ext cx="326880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Google Shape;263;p19"/>
          <p:cNvSpPr/>
          <p:nvPr/>
        </p:nvSpPr>
        <p:spPr>
          <a:xfrm>
            <a:off x="6400800" y="4491000"/>
            <a:ext cx="17596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Google Shape;264;p19"/>
          <p:cNvSpPr/>
          <p:nvPr/>
        </p:nvSpPr>
        <p:spPr>
          <a:xfrm>
            <a:off x="8160840" y="4491000"/>
            <a:ext cx="326880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18" name="Google Shape;265;p19"/>
          <p:cNvGraphicFramePr/>
          <p:nvPr/>
        </p:nvGraphicFramePr>
        <p:xfrm>
          <a:off x="762120" y="2962440"/>
          <a:ext cx="5028840" cy="1542600"/>
        </p:xfrm>
        <a:graphic>
          <a:graphicData uri="http://schemas.openxmlformats.org/drawingml/2006/table">
            <a:tbl>
              <a:tblPr/>
              <a:tblGrid>
                <a:gridCol w="1760040"/>
                <a:gridCol w="3268800"/>
              </a:tblGrid>
              <a:tr h="514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Processor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Dual-core CPU (Intel i5 / Ryzen 5+)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Memory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 GB RAM (8 GB+ recommended)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Storage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2 GB disk for ChromaDB vector cache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9" name="Google Shape;266;p19"/>
          <p:cNvGraphicFramePr/>
          <p:nvPr/>
        </p:nvGraphicFramePr>
        <p:xfrm>
          <a:off x="6400800" y="2962440"/>
          <a:ext cx="5028840" cy="1542600"/>
        </p:xfrm>
        <a:graphic>
          <a:graphicData uri="http://schemas.openxmlformats.org/drawingml/2006/table">
            <a:tbl>
              <a:tblPr/>
              <a:tblGrid>
                <a:gridCol w="1760040"/>
                <a:gridCol w="3268800"/>
              </a:tblGrid>
              <a:tr h="514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Core Logic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Python 3.10+, LangGraph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Data &amp; Graph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ChromaDB, NetworkX, PyMuPDF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Web Interface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FastAPI (Backend), React + Vite (UI)</a:t>
                      </a:r>
                      <a:endParaRPr lang="en-IN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67;p19"/>
          <p:cNvSpPr/>
          <p:nvPr/>
        </p:nvSpPr>
        <p:spPr>
          <a:xfrm>
            <a:off x="762120" y="7621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REQUIREMENTS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68;p19"/>
          <p:cNvSpPr/>
          <p:nvPr/>
        </p:nvSpPr>
        <p:spPr>
          <a:xfrm>
            <a:off x="762120" y="1076400"/>
            <a:ext cx="11429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Hardware &amp; Software Stack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69;p19"/>
          <p:cNvSpPr/>
          <p:nvPr/>
        </p:nvSpPr>
        <p:spPr>
          <a:xfrm>
            <a:off x="762120" y="2295360"/>
            <a:ext cx="5380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Hardware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70;p19"/>
          <p:cNvSpPr/>
          <p:nvPr/>
        </p:nvSpPr>
        <p:spPr>
          <a:xfrm>
            <a:off x="6400800" y="2295360"/>
            <a:ext cx="5380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Software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75;p20" descr="image.png"/>
          <p:cNvPicPr/>
          <p:nvPr/>
        </p:nvPicPr>
        <p:blipFill>
          <a:blip r:embed="rId1"/>
          <a:stretch/>
        </p:blipFill>
        <p:spPr>
          <a:xfrm>
            <a:off x="2314440" y="390060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Google Shape;276;p20" descr="image.png"/>
          <p:cNvPicPr/>
          <p:nvPr/>
        </p:nvPicPr>
        <p:blipFill>
          <a:blip r:embed="rId2"/>
          <a:stretch/>
        </p:blipFill>
        <p:spPr>
          <a:xfrm>
            <a:off x="4162320" y="390060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oogle Shape;277;p20" descr="image.png"/>
          <p:cNvPicPr/>
          <p:nvPr/>
        </p:nvPicPr>
        <p:blipFill>
          <a:blip r:embed="rId3"/>
          <a:stretch/>
        </p:blipFill>
        <p:spPr>
          <a:xfrm>
            <a:off x="6010200" y="390060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Google Shape;278;p20" descr="image.png"/>
          <p:cNvPicPr/>
          <p:nvPr/>
        </p:nvPicPr>
        <p:blipFill>
          <a:blip r:embed="rId4"/>
          <a:stretch/>
        </p:blipFill>
        <p:spPr>
          <a:xfrm>
            <a:off x="7858080" y="390060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Google Shape;279;p20" descr="image.png"/>
          <p:cNvPicPr/>
          <p:nvPr/>
        </p:nvPicPr>
        <p:blipFill>
          <a:blip r:embed="rId5"/>
          <a:stretch/>
        </p:blipFill>
        <p:spPr>
          <a:xfrm>
            <a:off x="9705960" y="390060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Google Shape;280;p20" descr="image.png"/>
          <p:cNvPicPr/>
          <p:nvPr/>
        </p:nvPicPr>
        <p:blipFill>
          <a:blip r:embed="rId6"/>
          <a:stretch/>
        </p:blipFill>
        <p:spPr>
          <a:xfrm>
            <a:off x="1133640" y="36529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Google Shape;281;p20" descr="image.png"/>
          <p:cNvPicPr/>
          <p:nvPr/>
        </p:nvPicPr>
        <p:blipFill>
          <a:blip r:embed="rId7"/>
          <a:stretch/>
        </p:blipFill>
        <p:spPr>
          <a:xfrm>
            <a:off x="2981160" y="36529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Google Shape;282;p20" descr="image.png"/>
          <p:cNvPicPr/>
          <p:nvPr/>
        </p:nvPicPr>
        <p:blipFill>
          <a:blip r:embed="rId8"/>
          <a:stretch/>
        </p:blipFill>
        <p:spPr>
          <a:xfrm>
            <a:off x="4829040" y="36529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Google Shape;283;p20" descr="image.png"/>
          <p:cNvPicPr/>
          <p:nvPr/>
        </p:nvPicPr>
        <p:blipFill>
          <a:blip r:embed="rId9"/>
          <a:stretch/>
        </p:blipFill>
        <p:spPr>
          <a:xfrm>
            <a:off x="6676920" y="36529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Google Shape;284;p20" descr="image.png"/>
          <p:cNvPicPr/>
          <p:nvPr/>
        </p:nvPicPr>
        <p:blipFill>
          <a:blip r:embed="rId10"/>
          <a:stretch/>
        </p:blipFill>
        <p:spPr>
          <a:xfrm>
            <a:off x="8524800" y="36529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Google Shape;285;p20" descr="image.png"/>
          <p:cNvPicPr/>
          <p:nvPr/>
        </p:nvPicPr>
        <p:blipFill>
          <a:blip r:embed="rId11"/>
          <a:stretch/>
        </p:blipFill>
        <p:spPr>
          <a:xfrm>
            <a:off x="10372680" y="36529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Google Shape;286;p20" descr="image.png"/>
          <p:cNvPicPr/>
          <p:nvPr/>
        </p:nvPicPr>
        <p:blipFill>
          <a:blip r:embed="rId12"/>
          <a:stretch/>
        </p:blipFill>
        <p:spPr>
          <a:xfrm>
            <a:off x="1362240" y="3881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Google Shape;287;p20" descr="image.png"/>
          <p:cNvPicPr/>
          <p:nvPr/>
        </p:nvPicPr>
        <p:blipFill>
          <a:blip r:embed="rId13"/>
          <a:stretch/>
        </p:blipFill>
        <p:spPr>
          <a:xfrm>
            <a:off x="3209760" y="3881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Google Shape;288;p20" descr="image.png"/>
          <p:cNvPicPr/>
          <p:nvPr/>
        </p:nvPicPr>
        <p:blipFill>
          <a:blip r:embed="rId14"/>
          <a:stretch/>
        </p:blipFill>
        <p:spPr>
          <a:xfrm>
            <a:off x="5057640" y="3881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Google Shape;289;p20" descr="image.png"/>
          <p:cNvPicPr/>
          <p:nvPr/>
        </p:nvPicPr>
        <p:blipFill>
          <a:blip r:embed="rId15"/>
          <a:stretch/>
        </p:blipFill>
        <p:spPr>
          <a:xfrm>
            <a:off x="6905520" y="3881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Google Shape;290;p20" descr="image.png"/>
          <p:cNvPicPr/>
          <p:nvPr/>
        </p:nvPicPr>
        <p:blipFill>
          <a:blip r:embed="rId16"/>
          <a:stretch/>
        </p:blipFill>
        <p:spPr>
          <a:xfrm>
            <a:off x="10586880" y="3881520"/>
            <a:ext cx="2566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Google Shape;291;p20"/>
          <p:cNvSpPr/>
          <p:nvPr/>
        </p:nvSpPr>
        <p:spPr>
          <a:xfrm>
            <a:off x="-285840" y="1967040"/>
            <a:ext cx="12763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SYSTEM DESIGN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2;p20"/>
          <p:cNvSpPr/>
          <p:nvPr/>
        </p:nvSpPr>
        <p:spPr>
          <a:xfrm>
            <a:off x="-285840" y="2281320"/>
            <a:ext cx="127630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6-Agent LangGraph Architecture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3;p20"/>
          <p:cNvSpPr/>
          <p:nvPr/>
        </p:nvSpPr>
        <p:spPr>
          <a:xfrm>
            <a:off x="595080" y="4491000"/>
            <a:ext cx="1762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Planner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4;p20"/>
          <p:cNvSpPr/>
          <p:nvPr/>
        </p:nvSpPr>
        <p:spPr>
          <a:xfrm>
            <a:off x="636840" y="4729320"/>
            <a:ext cx="1678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Query Decomposition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5;p20"/>
          <p:cNvSpPr/>
          <p:nvPr/>
        </p:nvSpPr>
        <p:spPr>
          <a:xfrm>
            <a:off x="2417760" y="4491000"/>
            <a:ext cx="1812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Search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96;p20"/>
          <p:cNvSpPr/>
          <p:nvPr/>
        </p:nvSpPr>
        <p:spPr>
          <a:xfrm>
            <a:off x="2460960" y="4729320"/>
            <a:ext cx="1726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Multi-Source Retrieval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97;p20"/>
          <p:cNvSpPr/>
          <p:nvPr/>
        </p:nvSpPr>
        <p:spPr>
          <a:xfrm>
            <a:off x="4272120" y="4491000"/>
            <a:ext cx="1800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Extraction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98;p20"/>
          <p:cNvSpPr/>
          <p:nvPr/>
        </p:nvSpPr>
        <p:spPr>
          <a:xfrm>
            <a:off x="4314960" y="4729320"/>
            <a:ext cx="1714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Targeted PDF Parsing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99;p20"/>
          <p:cNvSpPr/>
          <p:nvPr/>
        </p:nvSpPr>
        <p:spPr>
          <a:xfrm>
            <a:off x="6150960" y="4491000"/>
            <a:ext cx="1737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Synthesis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00;p20"/>
          <p:cNvSpPr/>
          <p:nvPr/>
        </p:nvSpPr>
        <p:spPr>
          <a:xfrm>
            <a:off x="6192360" y="4729320"/>
            <a:ext cx="16545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Comparison Matrices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1;p20"/>
          <p:cNvSpPr/>
          <p:nvPr/>
        </p:nvSpPr>
        <p:spPr>
          <a:xfrm>
            <a:off x="8142840" y="4491000"/>
            <a:ext cx="1449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Graph/Gap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02;p20"/>
          <p:cNvSpPr/>
          <p:nvPr/>
        </p:nvSpPr>
        <p:spPr>
          <a:xfrm>
            <a:off x="8177040" y="4729320"/>
            <a:ext cx="13806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Citation Topology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03;p20"/>
          <p:cNvSpPr/>
          <p:nvPr/>
        </p:nvSpPr>
        <p:spPr>
          <a:xfrm>
            <a:off x="9890640" y="4491000"/>
            <a:ext cx="1649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Report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4;p20"/>
          <p:cNvSpPr/>
          <p:nvPr/>
        </p:nvSpPr>
        <p:spPr>
          <a:xfrm>
            <a:off x="9929880" y="4729320"/>
            <a:ext cx="15714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PDF &amp; DOCX Export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309;p21"/>
          <p:cNvSpPr/>
          <p:nvPr/>
        </p:nvSpPr>
        <p:spPr>
          <a:xfrm>
            <a:off x="457200" y="3030480"/>
            <a:ext cx="59040" cy="835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520" tIns="33120" rIns="29520" bIns="3312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" name="Google Shape;310;p21"/>
          <p:cNvSpPr/>
          <p:nvPr/>
        </p:nvSpPr>
        <p:spPr>
          <a:xfrm>
            <a:off x="457200" y="3716280"/>
            <a:ext cx="66240" cy="835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120" tIns="32040" rIns="33120" bIns="3204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Google Shape;311;p21"/>
          <p:cNvSpPr/>
          <p:nvPr/>
        </p:nvSpPr>
        <p:spPr>
          <a:xfrm>
            <a:off x="457200" y="4402080"/>
            <a:ext cx="64440" cy="835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" tIns="32400" rIns="32400" bIns="3240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Google Shape;314;p21"/>
          <p:cNvSpPr/>
          <p:nvPr/>
        </p:nvSpPr>
        <p:spPr>
          <a:xfrm>
            <a:off x="457200" y="1607040"/>
            <a:ext cx="553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IMPLEMENTATION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15;p21"/>
          <p:cNvSpPr/>
          <p:nvPr/>
        </p:nvSpPr>
        <p:spPr>
          <a:xfrm>
            <a:off x="457200" y="1899000"/>
            <a:ext cx="58071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Pipeline Execution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16;p21"/>
          <p:cNvSpPr/>
          <p:nvPr/>
        </p:nvSpPr>
        <p:spPr>
          <a:xfrm>
            <a:off x="669240" y="2820960"/>
            <a:ext cx="4307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State Management:</a:t>
            </a: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Centralized PipelineState coordination.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17;p21"/>
          <p:cNvSpPr/>
          <p:nvPr/>
        </p:nvSpPr>
        <p:spPr>
          <a:xfrm>
            <a:off x="676440" y="3506760"/>
            <a:ext cx="4300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Live Streaming:</a:t>
            </a: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FastAPI SSE tracks state transitions.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8;p21"/>
          <p:cNvSpPr/>
          <p:nvPr/>
        </p:nvSpPr>
        <p:spPr>
          <a:xfrm>
            <a:off x="674640" y="4192560"/>
            <a:ext cx="430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Background Tasks:</a:t>
            </a:r>
            <a:r>
              <a:rPr lang="en-US" sz="15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Non-blocking ChromaDB indexing.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Picture 4"/>
          <p:cNvPicPr/>
          <p:nvPr/>
        </p:nvPicPr>
        <p:blipFill>
          <a:blip r:embed="rId1"/>
          <a:stretch/>
        </p:blipFill>
        <p:spPr>
          <a:xfrm>
            <a:off x="5023080" y="1620000"/>
            <a:ext cx="7036920" cy="327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323;p22"/>
          <p:cNvSpPr/>
          <p:nvPr/>
        </p:nvSpPr>
        <p:spPr>
          <a:xfrm>
            <a:off x="762120" y="2143080"/>
            <a:ext cx="3352320" cy="395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Google Shape;324;p22"/>
          <p:cNvSpPr/>
          <p:nvPr/>
        </p:nvSpPr>
        <p:spPr>
          <a:xfrm>
            <a:off x="4419720" y="2143080"/>
            <a:ext cx="3352320" cy="395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Google Shape;325;p22"/>
          <p:cNvSpPr/>
          <p:nvPr/>
        </p:nvSpPr>
        <p:spPr>
          <a:xfrm>
            <a:off x="8077320" y="2143080"/>
            <a:ext cx="3352320" cy="395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Google Shape;326;p22"/>
          <p:cNvSpPr/>
          <p:nvPr/>
        </p:nvSpPr>
        <p:spPr>
          <a:xfrm>
            <a:off x="762120" y="6086520"/>
            <a:ext cx="3352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Google Shape;327;p22"/>
          <p:cNvSpPr/>
          <p:nvPr/>
        </p:nvSpPr>
        <p:spPr>
          <a:xfrm>
            <a:off x="762120" y="2143080"/>
            <a:ext cx="3352320" cy="3780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Google Shape;328;p22"/>
          <p:cNvSpPr/>
          <p:nvPr/>
        </p:nvSpPr>
        <p:spPr>
          <a:xfrm>
            <a:off x="762120" y="2143080"/>
            <a:ext cx="9000" cy="39524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Google Shape;329;p22"/>
          <p:cNvSpPr/>
          <p:nvPr/>
        </p:nvSpPr>
        <p:spPr>
          <a:xfrm>
            <a:off x="4105440" y="2143080"/>
            <a:ext cx="9000" cy="39524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Google Shape;330;p22"/>
          <p:cNvSpPr/>
          <p:nvPr/>
        </p:nvSpPr>
        <p:spPr>
          <a:xfrm>
            <a:off x="4419720" y="6086520"/>
            <a:ext cx="3352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Google Shape;331;p22"/>
          <p:cNvSpPr/>
          <p:nvPr/>
        </p:nvSpPr>
        <p:spPr>
          <a:xfrm>
            <a:off x="4419720" y="2143080"/>
            <a:ext cx="3352320" cy="3780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Google Shape;332;p22"/>
          <p:cNvSpPr/>
          <p:nvPr/>
        </p:nvSpPr>
        <p:spPr>
          <a:xfrm>
            <a:off x="4419720" y="2143080"/>
            <a:ext cx="9000" cy="39524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Google Shape;333;p22"/>
          <p:cNvSpPr/>
          <p:nvPr/>
        </p:nvSpPr>
        <p:spPr>
          <a:xfrm>
            <a:off x="7763040" y="2143080"/>
            <a:ext cx="9000" cy="39524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Google Shape;334;p22"/>
          <p:cNvSpPr/>
          <p:nvPr/>
        </p:nvSpPr>
        <p:spPr>
          <a:xfrm>
            <a:off x="8077320" y="6086520"/>
            <a:ext cx="3352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Google Shape;335;p22"/>
          <p:cNvSpPr/>
          <p:nvPr/>
        </p:nvSpPr>
        <p:spPr>
          <a:xfrm>
            <a:off x="8077320" y="2143080"/>
            <a:ext cx="3352320" cy="3780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Google Shape;336;p22"/>
          <p:cNvSpPr/>
          <p:nvPr/>
        </p:nvSpPr>
        <p:spPr>
          <a:xfrm>
            <a:off x="8077320" y="2143080"/>
            <a:ext cx="9000" cy="39524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Google Shape;337;p22"/>
          <p:cNvSpPr/>
          <p:nvPr/>
        </p:nvSpPr>
        <p:spPr>
          <a:xfrm>
            <a:off x="11420640" y="2143080"/>
            <a:ext cx="9000" cy="39524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" rIns="46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Google Shape;338;p22"/>
          <p:cNvSpPr/>
          <p:nvPr/>
        </p:nvSpPr>
        <p:spPr>
          <a:xfrm>
            <a:off x="762120" y="7621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TESTING METHODOLOGY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39;p22"/>
          <p:cNvSpPr/>
          <p:nvPr/>
        </p:nvSpPr>
        <p:spPr>
          <a:xfrm>
            <a:off x="762120" y="1076400"/>
            <a:ext cx="11429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Validation Suites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40;p22"/>
          <p:cNvSpPr/>
          <p:nvPr/>
        </p:nvSpPr>
        <p:spPr>
          <a:xfrm>
            <a:off x="1076400" y="2486160"/>
            <a:ext cx="3575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Unit Testing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41;p22"/>
          <p:cNvSpPr/>
          <p:nvPr/>
        </p:nvSpPr>
        <p:spPr>
          <a:xfrm>
            <a:off x="4734000" y="2486160"/>
            <a:ext cx="3575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Edge Cases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42;p22"/>
          <p:cNvSpPr/>
          <p:nvPr/>
        </p:nvSpPr>
        <p:spPr>
          <a:xfrm>
            <a:off x="8391600" y="2486160"/>
            <a:ext cx="3575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Integration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43;p22"/>
          <p:cNvSpPr/>
          <p:nvPr/>
        </p:nvSpPr>
        <p:spPr>
          <a:xfrm>
            <a:off x="1076400" y="301932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44;p22"/>
          <p:cNvSpPr/>
          <p:nvPr/>
        </p:nvSpPr>
        <p:spPr>
          <a:xfrm>
            <a:off x="1076400" y="337176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45;p22"/>
          <p:cNvSpPr/>
          <p:nvPr/>
        </p:nvSpPr>
        <p:spPr>
          <a:xfrm>
            <a:off x="1076400" y="372420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46;p22"/>
          <p:cNvSpPr/>
          <p:nvPr/>
        </p:nvSpPr>
        <p:spPr>
          <a:xfrm>
            <a:off x="4734000" y="301932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347;p22"/>
          <p:cNvSpPr/>
          <p:nvPr/>
        </p:nvSpPr>
        <p:spPr>
          <a:xfrm>
            <a:off x="4734000" y="337176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48;p22"/>
          <p:cNvSpPr/>
          <p:nvPr/>
        </p:nvSpPr>
        <p:spPr>
          <a:xfrm>
            <a:off x="4734000" y="372420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49;p22"/>
          <p:cNvSpPr/>
          <p:nvPr/>
        </p:nvSpPr>
        <p:spPr>
          <a:xfrm>
            <a:off x="8391600" y="301932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50;p22"/>
          <p:cNvSpPr/>
          <p:nvPr/>
        </p:nvSpPr>
        <p:spPr>
          <a:xfrm>
            <a:off x="8391600" y="337176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1;p22"/>
          <p:cNvSpPr/>
          <p:nvPr/>
        </p:nvSpPr>
        <p:spPr>
          <a:xfrm>
            <a:off x="8391600" y="372420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•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2;p22"/>
          <p:cNvSpPr/>
          <p:nvPr/>
        </p:nvSpPr>
        <p:spPr>
          <a:xfrm>
            <a:off x="1276200" y="3019320"/>
            <a:ext cx="2202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Agent independence.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53;p22"/>
          <p:cNvSpPr/>
          <p:nvPr/>
        </p:nvSpPr>
        <p:spPr>
          <a:xfrm>
            <a:off x="1276200" y="3371760"/>
            <a:ext cx="2726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Sub-query decomposition.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54;p22"/>
          <p:cNvSpPr/>
          <p:nvPr/>
        </p:nvSpPr>
        <p:spPr>
          <a:xfrm>
            <a:off x="1276200" y="3724200"/>
            <a:ext cx="2178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Citation density logic.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55;p22"/>
          <p:cNvSpPr/>
          <p:nvPr/>
        </p:nvSpPr>
        <p:spPr>
          <a:xfrm>
            <a:off x="4933800" y="3019320"/>
            <a:ext cx="22975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API rate limit fallbacks.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56;p22"/>
          <p:cNvSpPr/>
          <p:nvPr/>
        </p:nvSpPr>
        <p:spPr>
          <a:xfrm>
            <a:off x="4933800" y="3371760"/>
            <a:ext cx="26427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Abstract-only processing.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57;p22"/>
          <p:cNvSpPr/>
          <p:nvPr/>
        </p:nvSpPr>
        <p:spPr>
          <a:xfrm>
            <a:off x="4933800" y="3724200"/>
            <a:ext cx="2690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Missing DOIs &amp; identifiers.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58;p22"/>
          <p:cNvSpPr/>
          <p:nvPr/>
        </p:nvSpPr>
        <p:spPr>
          <a:xfrm>
            <a:off x="8591400" y="3019320"/>
            <a:ext cx="2940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End-to-end state transitions.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59;p22"/>
          <p:cNvSpPr/>
          <p:nvPr/>
        </p:nvSpPr>
        <p:spPr>
          <a:xfrm>
            <a:off x="8591400" y="3371760"/>
            <a:ext cx="22737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Mocked LLM CI paths.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60;p22"/>
          <p:cNvSpPr/>
          <p:nvPr/>
        </p:nvSpPr>
        <p:spPr>
          <a:xfrm>
            <a:off x="8591400" y="3724200"/>
            <a:ext cx="2440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ChromaDB persistence.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65;p23" descr="image.png"/>
          <p:cNvPicPr/>
          <p:nvPr/>
        </p:nvPicPr>
        <p:blipFill>
          <a:blip r:embed="rId1"/>
          <a:stretch/>
        </p:blipFill>
        <p:spPr>
          <a:xfrm>
            <a:off x="609480" y="1657440"/>
            <a:ext cx="10972440" cy="459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Google Shape;367;p23"/>
          <p:cNvSpPr/>
          <p:nvPr/>
        </p:nvSpPr>
        <p:spPr>
          <a:xfrm>
            <a:off x="609480" y="609480"/>
            <a:ext cx="620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RESULTS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68;p23"/>
          <p:cNvSpPr/>
          <p:nvPr/>
        </p:nvSpPr>
        <p:spPr>
          <a:xfrm>
            <a:off x="609480" y="847800"/>
            <a:ext cx="65131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Automated Matrix Synthesis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69;p23"/>
          <p:cNvSpPr/>
          <p:nvPr/>
        </p:nvSpPr>
        <p:spPr>
          <a:xfrm>
            <a:off x="8772480" y="819000"/>
            <a:ext cx="14187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110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70;p23"/>
          <p:cNvSpPr/>
          <p:nvPr/>
        </p:nvSpPr>
        <p:spPr>
          <a:xfrm>
            <a:off x="8772480" y="1190520"/>
            <a:ext cx="1418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Papers Processed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71;p23"/>
          <p:cNvSpPr/>
          <p:nvPr/>
        </p:nvSpPr>
        <p:spPr>
          <a:xfrm>
            <a:off x="10287000" y="819000"/>
            <a:ext cx="1294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47%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72;p23"/>
          <p:cNvSpPr/>
          <p:nvPr/>
        </p:nvSpPr>
        <p:spPr>
          <a:xfrm>
            <a:off x="10287000" y="1190520"/>
            <a:ext cx="1294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Full PDF Parsing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1"/>
          <p:cNvPicPr/>
          <p:nvPr/>
        </p:nvPicPr>
        <p:blipFill>
          <a:blip r:embed="rId2"/>
          <a:stretch/>
        </p:blipFill>
        <p:spPr>
          <a:xfrm>
            <a:off x="1440000" y="1775520"/>
            <a:ext cx="9207000" cy="434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77;p24"/>
          <p:cNvSpPr/>
          <p:nvPr/>
        </p:nvSpPr>
        <p:spPr>
          <a:xfrm>
            <a:off x="265320" y="3990600"/>
            <a:ext cx="4076280" cy="1190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0" name="Google Shape;378;p24"/>
          <p:cNvSpPr/>
          <p:nvPr/>
        </p:nvSpPr>
        <p:spPr>
          <a:xfrm>
            <a:off x="265320" y="3990600"/>
            <a:ext cx="37800" cy="119016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Google Shape;381;p24"/>
          <p:cNvSpPr/>
          <p:nvPr/>
        </p:nvSpPr>
        <p:spPr>
          <a:xfrm>
            <a:off x="265320" y="1657080"/>
            <a:ext cx="50954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0953"/>
                </a:solidFill>
                <a:effectLst/>
                <a:uFillTx/>
                <a:latin typeface="Inter"/>
                <a:ea typeface="Inter"/>
              </a:rPr>
              <a:t>FINAL PROJECT DEMONSTRATION</a:t>
            </a:r>
            <a:endParaRPr lang="en-IN" sz="1050" b="0" u="none" strike="noStrike">
              <a:solidFill>
                <a:srgbClr val="650953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82;p24"/>
          <p:cNvSpPr/>
          <p:nvPr/>
        </p:nvSpPr>
        <p:spPr>
          <a:xfrm>
            <a:off x="265320" y="1971360"/>
            <a:ext cx="438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Playfair Display"/>
                <a:ea typeface="Playfair Display"/>
              </a:rPr>
              <a:t>Interactive Gap Evidence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383;p24"/>
          <p:cNvSpPr/>
          <p:nvPr/>
        </p:nvSpPr>
        <p:spPr>
          <a:xfrm>
            <a:off x="265320" y="3114360"/>
            <a:ext cx="41716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Identifies research gaps via statistical density analysis (e.g., density ≤ median).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384;p24"/>
          <p:cNvSpPr/>
          <p:nvPr/>
        </p:nvSpPr>
        <p:spPr>
          <a:xfrm>
            <a:off x="532080" y="4219200"/>
            <a:ext cx="4476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Topological Verification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85;p24"/>
          <p:cNvSpPr/>
          <p:nvPr/>
        </p:nvSpPr>
        <p:spPr>
          <a:xfrm>
            <a:off x="532080" y="4495320"/>
            <a:ext cx="3676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Every gap claim connects directly to an inspectable NetworkX/Cytoscape subgraph.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1"/>
          <p:cNvPicPr/>
          <p:nvPr/>
        </p:nvPicPr>
        <p:blipFill>
          <a:blip r:embed="rId1"/>
          <a:stretch/>
        </p:blipFill>
        <p:spPr>
          <a:xfrm>
            <a:off x="5220000" y="360000"/>
            <a:ext cx="6735600" cy="283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2"/>
          <p:cNvPicPr/>
          <p:nvPr/>
        </p:nvPicPr>
        <p:blipFill>
          <a:blip r:embed="rId2"/>
          <a:stretch/>
        </p:blipFill>
        <p:spPr>
          <a:xfrm>
            <a:off x="5220000" y="3401640"/>
            <a:ext cx="6840000" cy="322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90;p25"/>
          <p:cNvSpPr/>
          <p:nvPr/>
        </p:nvSpPr>
        <p:spPr>
          <a:xfrm>
            <a:off x="5791320" y="4833000"/>
            <a:ext cx="609120" cy="187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Google Shape;391;p25"/>
          <p:cNvSpPr/>
          <p:nvPr/>
        </p:nvSpPr>
        <p:spPr>
          <a:xfrm>
            <a:off x="4101840" y="2491920"/>
            <a:ext cx="398772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8FAFC"/>
                </a:solidFill>
                <a:effectLst/>
                <a:uFillTx/>
                <a:latin typeface="Playfair Display"/>
                <a:ea typeface="Playfair Display"/>
              </a:rPr>
              <a:t>Thank You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92;p25"/>
          <p:cNvSpPr/>
          <p:nvPr/>
        </p:nvSpPr>
        <p:spPr>
          <a:xfrm>
            <a:off x="1333440" y="3530160"/>
            <a:ext cx="952452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39000"/>
              </a:lnSpc>
              <a:tabLst>
                <a:tab pos="0" algn="l"/>
              </a:tabLst>
            </a:pPr>
            <a:r>
              <a:rPr lang="en-US" sz="1950" b="0" i="1" u="none" strike="noStrike">
                <a:solidFill>
                  <a:srgbClr val="94A3B8"/>
                </a:solidFill>
                <a:effectLst/>
                <a:uFillTx/>
                <a:latin typeface="Playfair Display"/>
                <a:ea typeface="Playfair Display"/>
              </a:rPr>
              <a:t>ScholarGraph establishes a verifiable, agentic paradigm for topologically grounded academic research.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93;p25"/>
          <p:cNvSpPr/>
          <p:nvPr/>
        </p:nvSpPr>
        <p:spPr>
          <a:xfrm>
            <a:off x="4393440" y="5156640"/>
            <a:ext cx="34048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Inter"/>
                <a:ea typeface="Inter"/>
              </a:rPr>
              <a:t>QUESTIONS &amp; DISCUSSION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LibreOffice/26.2.6.3$Linux_X86_64 LibreOffice_project/620$Build-3</Application>
  <AppVersion>15.0000</AppVersion>
  <Words>781</Words>
  <Paragraphs>144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2026-09-24T20:23:29Z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